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/>
              <a:t>Your spend: today vs proposed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Time &amp; Material</c:v>
                </c:pt>
              </c:strCache>
            </c:strRef>
          </c:tx>
          <c:spPr>
            <a:solidFill>
              <a:srgbClr val="6E7781"/>
            </a:solidFill>
          </c:spPr>
          <c:cat>
            <c:strRef>
              <c:f>Sheet1!$A$2:$A$3</c:f>
              <c:strCache>
                <c:ptCount val="2"/>
                <c:pt idx="0">
                  <c:v>Per month</c:v>
                </c:pt>
                <c:pt idx="1">
                  <c:v>Per year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48147.0</c:v>
                </c:pt>
                <c:pt idx="1">
                  <c:v>577760.0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Outcome-Based</c:v>
                </c:pt>
              </c:strCache>
            </c:strRef>
          </c:tx>
          <c:spPr>
            <a:solidFill>
              <a:srgbClr val="2E7D32"/>
            </a:solidFill>
          </c:spPr>
          <c:cat>
            <c:strRef>
              <c:f>Sheet1!$A$2:$A$3</c:f>
              <c:strCache>
                <c:ptCount val="2"/>
                <c:pt idx="0">
                  <c:v>Per month</c:v>
                </c:pt>
                <c:pt idx="1">
                  <c:v>Per year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45739.65</c:v>
                </c:pt>
                <c:pt idx="1">
                  <c:v>548875.8</c:v>
                </c:pt>
              </c:numCache>
            </c:numRef>
          </c:val>
        </c:ser>
        <c:dLbls>
          <c:numFmt formatCode="&quot;$&quot;#,##0" sourceLinked="0"/>
          <c:txPr>
            <a:bodyPr/>
            <a:lstStyle/>
            <a:p>
              <a:pPr>
                <a:defRPr sz="10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931920"/>
            <a:ext cx="12191695" cy="64008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DDEBF7"/>
                </a:solidFill>
                <a:latin typeface="Calibri"/>
              </a:rPr>
              <a:t>OPUS PULSE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1168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DDEBF7"/>
                </a:solidFill>
                <a:latin typeface="Calibri"/>
              </a:rPr>
              <a:t>PARTNERSHIP PROPOSAL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468880"/>
            <a:ext cx="10515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FFFFFF"/>
                </a:solidFill>
                <a:latin typeface="Calibri"/>
              </a:rPr>
              <a:t>A Better Way to Deliver
From Time-&amp;-Material to Outcome-Based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16052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DDEBF7"/>
                </a:solidFill>
                <a:latin typeface="Calibri"/>
              </a:rPr>
              <a:t>Pay for delivered outcomes - with price certainty and lower cost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12648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1">
                <a:solidFill>
                  <a:srgbClr val="9DB8D6"/>
                </a:solidFill>
                <a:latin typeface="Calibri"/>
              </a:rPr>
              <a:t>Prepared by Opus for Apex Bank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972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DDEBF7"/>
                </a:solidFill>
                <a:latin typeface="Calibri"/>
              </a:rPr>
              <a:t>TODAY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29184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Calibri"/>
              </a:rPr>
              <a:t>Where we are today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1">
                <a:solidFill>
                  <a:srgbClr val="6E7781"/>
                </a:solidFill>
                <a:latin typeface="Calibri"/>
              </a:rPr>
              <a:t>Prepared by Opus for Apex Bank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473952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781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6E7781"/>
                </a:solidFill>
                <a:latin typeface="Calibri"/>
              </a:rPr>
              <a:t>Opus Pulse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25880"/>
            <a:ext cx="6400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500" b="1">
                <a:solidFill>
                  <a:srgbClr val="212937"/>
                </a:solidFill>
                <a:latin typeface="Calibri"/>
              </a:rPr>
              <a:t>•  Our Payments Gateway team of 10 delivers under a Time-&amp;-Material model.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212937"/>
                </a:solidFill>
                <a:latin typeface="Calibri"/>
              </a:rPr>
              <a:t>•  You are invoiced for time - hours x rate - regardless of how much is delivered.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212937"/>
                </a:solidFill>
                <a:latin typeface="Calibri"/>
              </a:rPr>
              <a:t>•  You currently invest $48,147 / month ($577,760 / year) in the team.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212937"/>
                </a:solidFill>
                <a:latin typeface="Calibri"/>
              </a:rPr>
              <a:t>•  It works - but it ties your spend to effort, not to results.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23760" y="1417320"/>
            <a:ext cx="4480560" cy="1051560"/>
          </a:xfrm>
          <a:prstGeom prst="roundRect">
            <a:avLst>
              <a:gd name="adj" fmla="val 6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60920" y="1527048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DDEBF7"/>
                </a:solidFill>
                <a:latin typeface="Calibri"/>
              </a:rPr>
              <a:t>CURRENT MONTHLY SPEND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60920" y="1801368"/>
            <a:ext cx="4206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FFFFFF"/>
                </a:solidFill>
                <a:latin typeface="Calibri"/>
              </a:rPr>
              <a:t>$48,147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60920" y="2084832"/>
            <a:ext cx="42062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DDEBF7"/>
                </a:solidFill>
                <a:latin typeface="Calibri"/>
              </a:rPr>
              <a:t>Time &amp; Material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23760" y="2697480"/>
            <a:ext cx="4480560" cy="1051560"/>
          </a:xfrm>
          <a:prstGeom prst="roundRect">
            <a:avLst>
              <a:gd name="adj" fmla="val 6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60920" y="2807208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DDEBF7"/>
                </a:solidFill>
                <a:latin typeface="Calibri"/>
              </a:rPr>
              <a:t>CURRENT YEARLY SPEND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60920" y="3081528"/>
            <a:ext cx="4206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FFFFFF"/>
                </a:solidFill>
                <a:latin typeface="Calibri"/>
              </a:rPr>
              <a:t>$577,760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60920" y="3364991"/>
            <a:ext cx="42062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DDEBF7"/>
                </a:solidFill>
                <a:latin typeface="Calibri"/>
              </a:rPr>
              <a:t>team of 10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23760" y="3977639"/>
            <a:ext cx="4480560" cy="1051560"/>
          </a:xfrm>
          <a:prstGeom prst="roundRect">
            <a:avLst>
              <a:gd name="adj" fmla="val 6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60920" y="4087368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DDEBF7"/>
                </a:solidFill>
                <a:latin typeface="Calibri"/>
              </a:rPr>
              <a:t>TYPICAL DELIVERY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60920" y="4361688"/>
            <a:ext cx="4206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FFFFFF"/>
                </a:solidFill>
                <a:latin typeface="Calibri"/>
              </a:rPr>
              <a:t>~136 SP/mo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60920" y="4645152"/>
            <a:ext cx="42062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DDEBF7"/>
                </a:solidFill>
                <a:latin typeface="Calibri"/>
              </a:rPr>
              <a:t>story points accepted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972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DDEBF7"/>
                </a:solidFill>
                <a:latin typeface="Calibri"/>
              </a:rPr>
              <a:t>THE 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29184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Calibri"/>
              </a:rPr>
              <a:t>What Time-&amp;-Material costs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1">
                <a:solidFill>
                  <a:srgbClr val="6E7781"/>
                </a:solidFill>
                <a:latin typeface="Calibri"/>
              </a:rPr>
              <a:t>Prepared by Opus for Apex Bank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473952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781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6E7781"/>
                </a:solidFill>
                <a:latin typeface="Calibri"/>
              </a:rPr>
              <a:t>Opus Pulse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7160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212937"/>
                </a:solidFill>
                <a:latin typeface="Calibri"/>
              </a:rPr>
              <a:t>•  You pay for hours - not outcomes.</a:t>
            </a:r>
          </a:p>
          <a:p>
            <a:pPr lvl="1">
              <a:spcAft>
                <a:spcPts val="1000"/>
              </a:spcAft>
            </a:pPr>
            <a:r>
              <a:rPr sz="1400" b="0">
                <a:solidFill>
                  <a:srgbClr val="6E7781"/>
                </a:solidFill>
                <a:latin typeface="Calibri"/>
              </a:rPr>
              <a:t>    Meetings, grooming, rework and ramp-up of new joiners are all on your invoice.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212937"/>
                </a:solidFill>
                <a:latin typeface="Calibri"/>
              </a:rPr>
              <a:t>•  No price certainty.</a:t>
            </a:r>
          </a:p>
          <a:p>
            <a:pPr lvl="1">
              <a:spcAft>
                <a:spcPts val="1000"/>
              </a:spcAft>
            </a:pPr>
            <a:r>
              <a:rPr sz="1400" b="0">
                <a:solidFill>
                  <a:srgbClr val="6E7781"/>
                </a:solidFill>
                <a:latin typeface="Calibri"/>
              </a:rPr>
              <a:t>    Costs drift with team changes and annual rate revisions; budgeting is hard.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212937"/>
                </a:solidFill>
                <a:latin typeface="Calibri"/>
              </a:rPr>
              <a:t>•  Delivery risk sits with you.</a:t>
            </a:r>
          </a:p>
          <a:p>
            <a:pPr lvl="1">
              <a:spcAft>
                <a:spcPts val="1000"/>
              </a:spcAft>
            </a:pPr>
            <a:r>
              <a:rPr sz="1400" b="0">
                <a:solidFill>
                  <a:srgbClr val="6E7781"/>
                </a:solidFill>
                <a:latin typeface="Calibri"/>
              </a:rPr>
              <a:t>    If velocity dips or people churn, you keep paying the same while output falls.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212937"/>
                </a:solidFill>
                <a:latin typeface="Calibri"/>
              </a:rPr>
              <a:t>•  You manage the team, not just the result - timesheets, utilisation, oversight.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972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DDEBF7"/>
                </a:solidFill>
                <a:latin typeface="Calibri"/>
              </a:rPr>
              <a:t>OUR PROPOSAL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29184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Calibri"/>
              </a:rPr>
              <a:t>Outcome-Based delivery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1">
                <a:solidFill>
                  <a:srgbClr val="6E7781"/>
                </a:solidFill>
                <a:latin typeface="Calibri"/>
              </a:rPr>
              <a:t>Prepared by Opus for Apex Bank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473952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781"/>
                </a:solidFill>
                <a:latin typeface="Calibri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6E7781"/>
                </a:solidFill>
                <a:latin typeface="Calibri"/>
              </a:rPr>
              <a:t>Opus Pulse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25880"/>
            <a:ext cx="64922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500" b="1">
                <a:solidFill>
                  <a:srgbClr val="212937"/>
                </a:solidFill>
                <a:latin typeface="Calibri"/>
              </a:rPr>
              <a:t>•  Pay a fixed price per accepted story point - not per hour.</a:t>
            </a:r>
          </a:p>
          <a:p>
            <a:pPr>
              <a:spcAft>
                <a:spcPts val="1100"/>
              </a:spcAft>
            </a:pPr>
            <a:r>
              <a:rPr sz="1500" b="0">
                <a:solidFill>
                  <a:srgbClr val="212937"/>
                </a:solidFill>
                <a:latin typeface="Calibri"/>
              </a:rPr>
              <a:t>•  We commit to a monthly delivery volume with an agreed acceptance definition.</a:t>
            </a:r>
          </a:p>
          <a:p>
            <a:pPr>
              <a:spcAft>
                <a:spcPts val="1100"/>
              </a:spcAft>
            </a:pPr>
            <a:r>
              <a:rPr sz="1500" b="0">
                <a:solidFill>
                  <a:srgbClr val="212937"/>
                </a:solidFill>
                <a:latin typeface="Calibri"/>
              </a:rPr>
              <a:t>•  You pay only for what is delivered and accepted - rework before acceptance is on us.</a:t>
            </a:r>
          </a:p>
          <a:p>
            <a:pPr>
              <a:spcAft>
                <a:spcPts val="1100"/>
              </a:spcAft>
            </a:pPr>
            <a:r>
              <a:rPr sz="1500" b="0">
                <a:solidFill>
                  <a:srgbClr val="212937"/>
                </a:solidFill>
                <a:latin typeface="Calibri"/>
              </a:rPr>
              <a:t>•  Delivery risk - attrition, ramp-up, estimation - moves to Opus.</a:t>
            </a:r>
          </a:p>
          <a:p>
            <a:pPr>
              <a:spcAft>
                <a:spcPts val="1100"/>
              </a:spcAft>
            </a:pPr>
            <a:r>
              <a:rPr sz="1500" b="1">
                <a:solidFill>
                  <a:srgbClr val="212937"/>
                </a:solidFill>
                <a:latin typeface="Calibri"/>
              </a:rPr>
              <a:t>•  And it costs you less than today.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69480" y="1417320"/>
            <a:ext cx="4434840" cy="1051560"/>
          </a:xfrm>
          <a:prstGeom prst="roundRect">
            <a:avLst>
              <a:gd name="adj" fmla="val 6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06640" y="1527048"/>
            <a:ext cx="4160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DDEBF7"/>
                </a:solidFill>
                <a:latin typeface="Calibri"/>
              </a:rPr>
              <a:t>PROPOSED PRICE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6640" y="1801368"/>
            <a:ext cx="4160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FFFFFF"/>
                </a:solidFill>
                <a:latin typeface="Calibri"/>
              </a:rPr>
              <a:t>$336 / SP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0" y="2084832"/>
            <a:ext cx="41605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DDEBF7"/>
                </a:solidFill>
                <a:latin typeface="Calibri"/>
              </a:rPr>
              <a:t>per accepted story point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69480" y="2697480"/>
            <a:ext cx="4434840" cy="1051560"/>
          </a:xfrm>
          <a:prstGeom prst="roundRect">
            <a:avLst>
              <a:gd name="adj" fmla="val 6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06640" y="2807208"/>
            <a:ext cx="4160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DDEBF7"/>
                </a:solidFill>
                <a:latin typeface="Calibri"/>
              </a:rPr>
              <a:t>MONTHLY COMMITMENT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6640" y="3081528"/>
            <a:ext cx="4160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FFFFFF"/>
                </a:solidFill>
                <a:latin typeface="Calibri"/>
              </a:rPr>
              <a:t>~136 SP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6640" y="3364991"/>
            <a:ext cx="41605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DDEBF7"/>
                </a:solidFill>
                <a:latin typeface="Calibri"/>
              </a:rPr>
              <a:t>= $45,740 / month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69480" y="3977639"/>
            <a:ext cx="4434840" cy="1051560"/>
          </a:xfrm>
          <a:prstGeom prst="roundRect">
            <a:avLst>
              <a:gd name="adj" fmla="val 6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06640" y="4087368"/>
            <a:ext cx="4160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DDEBF7"/>
                </a:solidFill>
                <a:latin typeface="Calibri"/>
              </a:rPr>
              <a:t>YOU PAY ONLY FOR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06640" y="4361688"/>
            <a:ext cx="4160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FFFFFF"/>
                </a:solidFill>
                <a:latin typeface="Calibri"/>
              </a:rPr>
              <a:t>accepted work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06640" y="4645152"/>
            <a:ext cx="41605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DDEBF7"/>
                </a:solidFill>
                <a:latin typeface="Calibri"/>
              </a:rPr>
              <a:t>quality-gated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972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DDEBF7"/>
                </a:solidFill>
                <a:latin typeface="Calibri"/>
              </a:rPr>
              <a:t>THE NUMBERS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29184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Calibri"/>
              </a:rPr>
              <a:t>What you pay - today vs proposed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1">
                <a:solidFill>
                  <a:srgbClr val="6E7781"/>
                </a:solidFill>
                <a:latin typeface="Calibri"/>
              </a:rPr>
              <a:t>Prepared by Opus for Apex Bank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473952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781"/>
                </a:solidFill>
                <a:latin typeface="Calibri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6E7781"/>
                </a:solidFill>
                <a:latin typeface="Calibri"/>
              </a:rPr>
              <a:t>Opus Pulse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280160"/>
          <a:ext cx="6400800" cy="24688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77440"/>
                <a:gridCol w="2011680"/>
                <a:gridCol w="2011680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73152" marT="18288" marB="18288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Time &amp; Material</a:t>
                      </a:r>
                    </a:p>
                  </a:txBody>
                  <a:tcPr anchor="ctr" marL="73152" marT="18288" marB="18288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Outcome-Based</a:t>
                      </a:r>
                    </a:p>
                  </a:txBody>
                  <a:tcPr anchor="ctr" marL="73152" marT="18288" marB="18288">
                    <a:solidFill>
                      <a:srgbClr val="1F4E7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12937"/>
                          </a:solidFill>
                          <a:latin typeface="Calibri"/>
                        </a:rPr>
                        <a:t>Basis</a:t>
                      </a:r>
                    </a:p>
                  </a:txBody>
                  <a:tcPr anchor="ctr"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12937"/>
                          </a:solidFill>
                          <a:latin typeface="Calibri"/>
                        </a:rPr>
                        <a:t>Hours x rate</a:t>
                      </a:r>
                    </a:p>
                  </a:txBody>
                  <a:tcPr anchor="ctr"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12937"/>
                          </a:solidFill>
                          <a:latin typeface="Calibri"/>
                        </a:rPr>
                        <a:t>Price per accepted SP</a:t>
                      </a:r>
                    </a:p>
                  </a:txBody>
                  <a:tcPr anchor="ctr" marL="73152" marT="18288" marB="18288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12937"/>
                          </a:solidFill>
                          <a:latin typeface="Calibri"/>
                        </a:rPr>
                        <a:t>Effective $ / delivered SP</a:t>
                      </a:r>
                    </a:p>
                  </a:txBody>
                  <a:tcPr anchor="ctr" marL="73152" marT="18288" marB="18288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12937"/>
                          </a:solidFill>
                          <a:latin typeface="Calibri"/>
                        </a:rPr>
                        <a:t>~$354</a:t>
                      </a:r>
                    </a:p>
                  </a:txBody>
                  <a:tcPr anchor="ctr" marL="73152" marT="18288" marB="18288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12937"/>
                          </a:solidFill>
                          <a:latin typeface="Calibri"/>
                        </a:rPr>
                        <a:t>$336</a:t>
                      </a:r>
                    </a:p>
                  </a:txBody>
                  <a:tcPr anchor="ctr" marL="73152" marT="18288" marB="18288">
                    <a:solidFill>
                      <a:srgbClr val="F2F4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12937"/>
                          </a:solidFill>
                          <a:latin typeface="Calibri"/>
                        </a:rPr>
                        <a:t>Monthly invoice</a:t>
                      </a:r>
                    </a:p>
                  </a:txBody>
                  <a:tcPr anchor="ctr" marL="73152" marT="18288" marB="18288"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E7D32"/>
                          </a:solidFill>
                          <a:latin typeface="Calibri"/>
                        </a:rPr>
                        <a:t>$48,147</a:t>
                      </a:r>
                    </a:p>
                  </a:txBody>
                  <a:tcPr anchor="ctr" marL="73152" marT="18288" marB="18288"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E7D32"/>
                          </a:solidFill>
                          <a:latin typeface="Calibri"/>
                        </a:rPr>
                        <a:t>$45,740</a:t>
                      </a:r>
                    </a:p>
                  </a:txBody>
                  <a:tcPr anchor="ctr" marL="73152" marT="18288" marB="18288">
                    <a:solidFill>
                      <a:srgbClr val="E2EFD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12937"/>
                          </a:solidFill>
                          <a:latin typeface="Calibri"/>
                        </a:rPr>
                        <a:t>Yearly invoice</a:t>
                      </a:r>
                    </a:p>
                  </a:txBody>
                  <a:tcPr anchor="ctr" marL="73152" marT="18288" marB="18288"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E7D32"/>
                          </a:solidFill>
                          <a:latin typeface="Calibri"/>
                        </a:rPr>
                        <a:t>$577,760</a:t>
                      </a:r>
                    </a:p>
                  </a:txBody>
                  <a:tcPr anchor="ctr" marL="73152" marT="18288" marB="18288"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E7D32"/>
                          </a:solidFill>
                          <a:latin typeface="Calibri"/>
                        </a:rPr>
                        <a:t>$548,876</a:t>
                      </a:r>
                    </a:p>
                  </a:txBody>
                  <a:tcPr anchor="ctr" marL="73152" marT="18288" marB="18288">
                    <a:solidFill>
                      <a:srgbClr val="E2EFD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12937"/>
                          </a:solidFill>
                          <a:latin typeface="Calibri"/>
                        </a:rPr>
                        <a:t>You pay for</a:t>
                      </a:r>
                    </a:p>
                  </a:txBody>
                  <a:tcPr anchor="ctr"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12937"/>
                          </a:solidFill>
                          <a:latin typeface="Calibri"/>
                        </a:rPr>
                        <a:t>All time</a:t>
                      </a:r>
                    </a:p>
                  </a:txBody>
                  <a:tcPr anchor="ctr"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12937"/>
                          </a:solidFill>
                          <a:latin typeface="Calibri"/>
                        </a:rPr>
                        <a:t>Accepted output only</a:t>
                      </a:r>
                    </a:p>
                  </a:txBody>
                  <a:tcPr anchor="ctr" marL="73152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7132320" y="1280160"/>
          <a:ext cx="4572000" cy="33832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502920" y="4892040"/>
            <a:ext cx="6400800" cy="384048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4937759"/>
            <a:ext cx="64008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YOUR SAVING:  ~$28.9k / year  (~5%)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5440680"/>
            <a:ext cx="6400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1">
                <a:solidFill>
                  <a:srgbClr val="212937"/>
                </a:solidFill>
                <a:latin typeface="Calibri"/>
              </a:rPr>
              <a:t>Today $48,147 buys ~136 delivered points (~$354 each) and you pay it whether or not they land. At $336 per accepted point you pay less - and only for results.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972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DDEBF7"/>
                </a:solidFill>
                <a:latin typeface="Calibri"/>
              </a:rPr>
              <a:t>BEYOND PRICE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29184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Calibri"/>
              </a:rPr>
              <a:t>What you gain - beyond the saving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1">
                <a:solidFill>
                  <a:srgbClr val="6E7781"/>
                </a:solidFill>
                <a:latin typeface="Calibri"/>
              </a:rPr>
              <a:t>Prepared by Opus for Apex Bank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473952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781"/>
                </a:solidFill>
                <a:latin typeface="Calibri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6E7781"/>
                </a:solidFill>
                <a:latin typeface="Calibri"/>
              </a:rPr>
              <a:t>Opus Pulse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417320"/>
            <a:ext cx="3520440" cy="1600200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417320"/>
            <a:ext cx="109728" cy="16002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1581912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F4E79"/>
                </a:solidFill>
                <a:latin typeface="Calibri"/>
              </a:rPr>
              <a:t>Price certainty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1984248"/>
            <a:ext cx="3154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12937"/>
                </a:solidFill>
                <a:latin typeface="Calibri"/>
              </a:rPr>
              <a:t>A fixed rate per point. No surprises from rate revisions or slippage.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1417320"/>
            <a:ext cx="3520440" cy="1600200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7680" y="1417320"/>
            <a:ext cx="109728" cy="16002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53712" y="1581912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F4E79"/>
                </a:solidFill>
                <a:latin typeface="Calibri"/>
              </a:rPr>
              <a:t>Pay for results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53712" y="1984248"/>
            <a:ext cx="3154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12937"/>
                </a:solidFill>
                <a:latin typeface="Calibri"/>
              </a:rPr>
              <a:t>Rework, meetings and ramp-up are no longer on your invoice.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2440" y="1417320"/>
            <a:ext cx="3520440" cy="1600200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92440" y="1417320"/>
            <a:ext cx="109728" cy="16002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48471" y="1581912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F4E79"/>
                </a:solidFill>
                <a:latin typeface="Calibri"/>
              </a:rPr>
              <a:t>Risk transferred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48471" y="1984248"/>
            <a:ext cx="3154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12937"/>
                </a:solidFill>
                <a:latin typeface="Calibri"/>
              </a:rPr>
              <a:t>Attrition, ramp-up and estimation risk sit with Opus.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3246120"/>
            <a:ext cx="3520440" cy="1600200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" y="3246120"/>
            <a:ext cx="109728" cy="16002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8952" y="3410712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F4E79"/>
                </a:solidFill>
                <a:latin typeface="Calibri"/>
              </a:rPr>
              <a:t>Throughput SLA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" y="3813048"/>
            <a:ext cx="3154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12937"/>
                </a:solidFill>
                <a:latin typeface="Calibri"/>
              </a:rPr>
              <a:t>A committed monthly delivery volume - not an open-ended timesheet.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97680" y="3246120"/>
            <a:ext cx="3520440" cy="1600200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297680" y="3246120"/>
            <a:ext cx="109728" cy="16002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53712" y="3410712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F4E79"/>
                </a:solidFill>
                <a:latin typeface="Calibri"/>
              </a:rPr>
              <a:t>Less overhead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53712" y="3813048"/>
            <a:ext cx="3154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12937"/>
                </a:solidFill>
                <a:latin typeface="Calibri"/>
              </a:rPr>
              <a:t>You govern outcomes, not headcount and utilisation.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92440" y="3246120"/>
            <a:ext cx="3520440" cy="1600200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92440" y="3246120"/>
            <a:ext cx="109728" cy="16002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48471" y="3410712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F4E79"/>
                </a:solidFill>
                <a:latin typeface="Calibri"/>
              </a:rPr>
              <a:t>Built-in quality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48471" y="3813048"/>
            <a:ext cx="3154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12937"/>
                </a:solidFill>
                <a:latin typeface="Calibri"/>
              </a:rPr>
              <a:t>Acceptance gate - you sign off before it is billable.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972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DDEBF7"/>
                </a:solidFill>
                <a:latin typeface="Calibri"/>
              </a:rPr>
              <a:t>AT A GLANCE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29184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Calibri"/>
              </a:rPr>
              <a:t>Time-&amp;-Material vs Outcome-Based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1">
                <a:solidFill>
                  <a:srgbClr val="6E7781"/>
                </a:solidFill>
                <a:latin typeface="Calibri"/>
              </a:rPr>
              <a:t>Prepared by Opus for Apex Bank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473952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781"/>
                </a:solidFill>
                <a:latin typeface="Calibri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6E7781"/>
                </a:solidFill>
                <a:latin typeface="Calibri"/>
              </a:rPr>
              <a:t>Opus Pulse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371600"/>
          <a:ext cx="10881360" cy="36941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108960"/>
                <a:gridCol w="3886200"/>
                <a:gridCol w="3886200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Dimension</a:t>
                      </a:r>
                    </a:p>
                  </a:txBody>
                  <a:tcPr anchor="ctr" marL="73152" marT="18288" marB="18288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Time &amp; Material</a:t>
                      </a:r>
                    </a:p>
                  </a:txBody>
                  <a:tcPr anchor="ctr" marL="73152" marT="18288" marB="18288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Outcome-Based</a:t>
                      </a:r>
                    </a:p>
                  </a:txBody>
                  <a:tcPr anchor="ctr" marL="73152" marT="18288" marB="18288">
                    <a:solidFill>
                      <a:srgbClr val="1F4E7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212937"/>
                          </a:solidFill>
                          <a:latin typeface="Calibri"/>
                        </a:rPr>
                        <a:t>You pay for</a:t>
                      </a:r>
                    </a:p>
                  </a:txBody>
                  <a:tcPr anchor="ctr"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12937"/>
                          </a:solidFill>
                          <a:latin typeface="Calibri"/>
                        </a:rPr>
                        <a:t>Hours worked</a:t>
                      </a:r>
                    </a:p>
                  </a:txBody>
                  <a:tcPr anchor="ctr"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12937"/>
                          </a:solidFill>
                          <a:latin typeface="Calibri"/>
                        </a:rPr>
                        <a:t>Accepted story points</a:t>
                      </a:r>
                    </a:p>
                  </a:txBody>
                  <a:tcPr anchor="ctr" marL="73152" marT="18288" marB="18288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212937"/>
                          </a:solidFill>
                          <a:latin typeface="Calibri"/>
                        </a:rPr>
                        <a:t>Price certainty</a:t>
                      </a:r>
                    </a:p>
                  </a:txBody>
                  <a:tcPr anchor="ctr" marL="73152" marT="18288" marB="18288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12937"/>
                          </a:solidFill>
                          <a:latin typeface="Calibri"/>
                        </a:rPr>
                        <a:t>Variable</a:t>
                      </a:r>
                    </a:p>
                  </a:txBody>
                  <a:tcPr anchor="ctr" marL="73152" marT="18288" marB="18288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12937"/>
                          </a:solidFill>
                          <a:latin typeface="Calibri"/>
                        </a:rPr>
                        <a:t>Fixed per point</a:t>
                      </a:r>
                    </a:p>
                  </a:txBody>
                  <a:tcPr anchor="ctr" marL="73152" marT="18288" marB="18288">
                    <a:solidFill>
                      <a:srgbClr val="F2F4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212937"/>
                          </a:solidFill>
                          <a:latin typeface="Calibri"/>
                        </a:rPr>
                        <a:t>Delivery risk</a:t>
                      </a:r>
                    </a:p>
                  </a:txBody>
                  <a:tcPr anchor="ctr"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12937"/>
                          </a:solidFill>
                          <a:latin typeface="Calibri"/>
                        </a:rPr>
                        <a:t>Yours</a:t>
                      </a:r>
                    </a:p>
                  </a:txBody>
                  <a:tcPr anchor="ctr"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12937"/>
                          </a:solidFill>
                          <a:latin typeface="Calibri"/>
                        </a:rPr>
                        <a:t>Opus</a:t>
                      </a:r>
                    </a:p>
                  </a:txBody>
                  <a:tcPr anchor="ctr" marL="73152" marT="18288" marB="18288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212937"/>
                          </a:solidFill>
                          <a:latin typeface="Calibri"/>
                        </a:rPr>
                        <a:t>Getting faster over time</a:t>
                      </a:r>
                    </a:p>
                  </a:txBody>
                  <a:tcPr anchor="ctr" marL="73152" marT="18288" marB="18288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12937"/>
                          </a:solidFill>
                          <a:latin typeface="Calibri"/>
                        </a:rPr>
                        <a:t>Fewer billed hours</a:t>
                      </a:r>
                    </a:p>
                  </a:txBody>
                  <a:tcPr anchor="ctr" marL="73152" marT="18288" marB="18288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12937"/>
                          </a:solidFill>
                          <a:latin typeface="Calibri"/>
                        </a:rPr>
                        <a:t>A lower price per point</a:t>
                      </a:r>
                    </a:p>
                  </a:txBody>
                  <a:tcPr anchor="ctr" marL="73152" marT="18288" marB="18288">
                    <a:solidFill>
                      <a:srgbClr val="F2F4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212937"/>
                          </a:solidFill>
                          <a:latin typeface="Calibri"/>
                        </a:rPr>
                        <a:t>Rework / ramp-up</a:t>
                      </a:r>
                    </a:p>
                  </a:txBody>
                  <a:tcPr anchor="ctr"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12937"/>
                          </a:solidFill>
                          <a:latin typeface="Calibri"/>
                        </a:rPr>
                        <a:t>On your invoice</a:t>
                      </a:r>
                    </a:p>
                  </a:txBody>
                  <a:tcPr anchor="ctr"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12937"/>
                          </a:solidFill>
                          <a:latin typeface="Calibri"/>
                        </a:rPr>
                        <a:t>Absorbed by Opus</a:t>
                      </a:r>
                    </a:p>
                  </a:txBody>
                  <a:tcPr anchor="ctr" marL="73152" marT="18288" marB="18288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212937"/>
                          </a:solidFill>
                          <a:latin typeface="Calibri"/>
                        </a:rPr>
                        <a:t>Your effort</a:t>
                      </a:r>
                    </a:p>
                  </a:txBody>
                  <a:tcPr anchor="ctr" marL="73152" marT="18288" marB="18288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12937"/>
                          </a:solidFill>
                          <a:latin typeface="Calibri"/>
                        </a:rPr>
                        <a:t>Manage the team</a:t>
                      </a:r>
                    </a:p>
                  </a:txBody>
                  <a:tcPr anchor="ctr" marL="73152" marT="18288" marB="18288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12937"/>
                          </a:solidFill>
                          <a:latin typeface="Calibri"/>
                        </a:rPr>
                        <a:t>Approve the outcomes</a:t>
                      </a:r>
                    </a:p>
                  </a:txBody>
                  <a:tcPr anchor="ctr" marL="73152" marT="18288" marB="18288">
                    <a:solidFill>
                      <a:srgbClr val="F2F4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212937"/>
                          </a:solidFill>
                          <a:latin typeface="Calibri"/>
                        </a:rPr>
                        <a:t>Annual cost</a:t>
                      </a:r>
                    </a:p>
                  </a:txBody>
                  <a:tcPr anchor="ctr" marL="73152" marT="18288" marB="18288"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2E7D32"/>
                          </a:solidFill>
                          <a:latin typeface="Calibri"/>
                        </a:rPr>
                        <a:t>$577,760</a:t>
                      </a:r>
                    </a:p>
                  </a:txBody>
                  <a:tcPr anchor="ctr" marL="73152" marT="18288" marB="18288"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2E7D32"/>
                          </a:solidFill>
                          <a:latin typeface="Calibri"/>
                        </a:rPr>
                        <a:t>$548,876</a:t>
                      </a:r>
                    </a:p>
                  </a:txBody>
                  <a:tcPr anchor="ctr" marL="73152" marT="18288" marB="18288">
                    <a:solidFill>
                      <a:srgbClr val="E2EFD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972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DDEBF7"/>
                </a:solidFill>
                <a:latin typeface="Calibri"/>
              </a:rPr>
              <a:t>GETTING THERE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29184"/>
            <a:ext cx="111556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Calibri"/>
              </a:rPr>
              <a:t>A low-risk transition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1">
                <a:solidFill>
                  <a:srgbClr val="6E7781"/>
                </a:solidFill>
                <a:latin typeface="Calibri"/>
              </a:rPr>
              <a:t>Prepared by Opus for Apex Bank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473952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781"/>
                </a:solidFill>
                <a:latin typeface="Calibri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73952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6E7781"/>
                </a:solidFill>
                <a:latin typeface="Calibri"/>
              </a:rPr>
              <a:t>Opus Pulse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71600"/>
            <a:ext cx="110642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500" b="1">
                <a:solidFill>
                  <a:srgbClr val="212937"/>
                </a:solidFill>
                <a:latin typeface="Calibri"/>
              </a:rPr>
              <a:t>•  Step 1 - Agree the story-point definition, acceptance criteria and monthly volume.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212937"/>
                </a:solidFill>
                <a:latin typeface="Calibri"/>
              </a:rPr>
              <a:t>•  Step 2 - Run one to two monthly cycles in parallel to validate velocity and pricing.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212937"/>
                </a:solidFill>
                <a:latin typeface="Calibri"/>
              </a:rPr>
              <a:t>•  Step 3 - Switch the SOW to a fixed price per accepted point.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212937"/>
                </a:solidFill>
                <a:latin typeface="Calibri"/>
              </a:rPr>
              <a:t>•  Step 4 - Review quarterly; extend across other Apex Bank workstreams.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572000"/>
            <a:ext cx="6035040" cy="384048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4617720"/>
            <a:ext cx="603504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You save ~$28.9k/yr + gain certainty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21208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F4E79"/>
                </a:solidFill>
                <a:latin typeface="Calibri"/>
              </a:rPr>
              <a:t>Let's deliver outcomes, not hours.</a:t>
            </a:r>
          </a:p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6E7781"/>
                </a:solidFill>
                <a:latin typeface="Calibri"/>
              </a:rPr>
              <a:t>We're ready to start the parallel run next sprint.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