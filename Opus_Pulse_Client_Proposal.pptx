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4315A"/>
                </a:solidFill>
              </a:rPr>
              <a:t>Where your billed hours go (illustrative)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2E7D32"/>
              </a:solidFill>
            </c:spPr>
          </c:dPt>
          <c:dPt>
            <c:idx val="1"/>
            <c:spPr>
              <a:solidFill>
                <a:srgbClr val="6B7480"/>
              </a:solidFill>
            </c:spPr>
          </c:dPt>
          <c:dPt>
            <c:idx val="2"/>
            <c:spPr>
              <a:solidFill>
                <a:srgbClr val="C8860D"/>
              </a:solidFill>
            </c:spPr>
          </c:dPt>
          <c:cat>
            <c:strRef>
              <c:f>Sheet1!$A$2:$A$4</c:f>
              <c:strCache>
                <c:ptCount val="3"/>
                <c:pt idx="0">
                  <c:v>Feature delivery</c:v>
                </c:pt>
                <c:pt idx="1">
                  <c:v>Meetings &amp; grooming</c:v>
                </c:pt>
                <c:pt idx="2">
                  <c:v>Rework &amp; ramp-up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4315A"/>
                </a:solidFill>
              </a:rPr>
              <a:t>Your spend: today vs proposed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Time &amp; Material</c:v>
                </c:pt>
              </c:strCache>
            </c:strRef>
          </c:tx>
          <c:spPr>
            <a:solidFill>
              <a:srgbClr val="6B7480"/>
            </a:solidFill>
          </c:spPr>
          <c:cat>
            <c:strRef>
              <c:f>Sheet1!$A$2:$A$3</c:f>
              <c:strCache>
                <c:ptCount val="2"/>
                <c:pt idx="0">
                  <c:v>Per month</c:v>
                </c:pt>
                <c:pt idx="1">
                  <c:v>Per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48147.0</c:v>
                </c:pt>
                <c:pt idx="1">
                  <c:v>577760.0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Outcome-based</c:v>
                </c:pt>
              </c:strCache>
            </c:strRef>
          </c:tx>
          <c:spPr>
            <a:solidFill>
              <a:srgbClr val="2E7D32"/>
            </a:solidFill>
          </c:spPr>
          <c:cat>
            <c:strRef>
              <c:f>Sheet1!$A$2:$A$3</c:f>
              <c:strCache>
                <c:ptCount val="2"/>
                <c:pt idx="0">
                  <c:v>Per month</c:v>
                </c:pt>
                <c:pt idx="1">
                  <c:v>Per year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45739.65</c:v>
                </c:pt>
                <c:pt idx="1">
                  <c:v>548875.8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13632"/>
            <a:ext cx="6766560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FD6EF"/>
                </a:solidFill>
                <a:latin typeface="Calibri"/>
              </a:rPr>
              <a:t>OPUS  ·  DELIVERY ECONOMICS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FD6EF"/>
                </a:solidFill>
                <a:latin typeface="Calibri"/>
              </a:rPr>
              <a:t>PARTNERSHIP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700" b="1" i="0">
                <a:solidFill>
                  <a:srgbClr val="FFFFFF"/>
                </a:solidFill>
                <a:latin typeface="Calibri"/>
              </a:rPr>
              <a:t>A Better Way to Deliver
From Time-&amp;-Material to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BFD6EF"/>
                </a:solidFill>
                <a:latin typeface="Calibri"/>
              </a:rPr>
              <a:t>Pay for delivered outcomes - with price certainty and lower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72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Where we are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Your Payments Gateway team of 10 is billed for time - $48,147/month - regardless of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6400800" cy="3291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Time-&amp;-Material model</a:t>
            </a:r>
            <a:r>
              <a:rPr sz="1500">
                <a:solidFill>
                  <a:srgbClr val="6B7480"/>
                </a:solidFill>
                <a:latin typeface="Calibri"/>
              </a:rPr>
              <a:t>  you are invoiced for hours x rate.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Current investment</a:t>
            </a:r>
            <a:r>
              <a:rPr sz="1500">
                <a:solidFill>
                  <a:srgbClr val="6B7480"/>
                </a:solidFill>
                <a:latin typeface="Calibri"/>
              </a:rPr>
              <a:t>  $48,147 / month ($577,760 / year) in the team.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It works</a:t>
            </a:r>
            <a:r>
              <a:rPr sz="1500">
                <a:solidFill>
                  <a:srgbClr val="6B7480"/>
                </a:solidFill>
                <a:latin typeface="Calibri"/>
              </a:rPr>
              <a:t>  but it ties your spend to effort, not to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1783080"/>
            <a:ext cx="4462272" cy="1051560"/>
          </a:xfrm>
          <a:prstGeom prst="roundRect">
            <a:avLst>
              <a:gd name="adj" fmla="val 5000"/>
            </a:avLst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1" y="1874519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CURRENT MONTHLY SPEND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2112264"/>
            <a:ext cx="4133087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$48,147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1" y="2596896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Time &amp; Material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3017520"/>
            <a:ext cx="4462272" cy="1051560"/>
          </a:xfrm>
          <a:prstGeom prst="roundRect">
            <a:avLst>
              <a:gd name="adj" fmla="val 5000"/>
            </a:avLst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1" y="3108960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CURRENT YEARLY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1" y="3346703"/>
            <a:ext cx="4133087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$577,760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1" y="3831335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team of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4251960"/>
            <a:ext cx="4462272" cy="1051560"/>
          </a:xfrm>
          <a:prstGeom prst="roundRect">
            <a:avLst>
              <a:gd name="adj" fmla="val 5000"/>
            </a:avLst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1" y="4343400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TYPICAL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1" y="4581144"/>
            <a:ext cx="4133087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~136 SP/mo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1" y="5065776"/>
            <a:ext cx="41330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story points accepted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hidden cost of Time-&amp;-Material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Under TNM you pay for every hour - including the meetings, rework and onboarding behind the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257800" cy="4370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76656" y="1810512"/>
          <a:ext cx="5029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35040" y="1783080"/>
            <a:ext cx="56052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315A"/>
                </a:solidFill>
                <a:latin typeface="Calibri"/>
              </a:rPr>
              <a:t>All of it is on your invoice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212848"/>
            <a:ext cx="560527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212848"/>
            <a:ext cx="77724" cy="1170432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2340864"/>
            <a:ext cx="5221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4315A"/>
                </a:solidFill>
                <a:latin typeface="Calibri"/>
              </a:rPr>
              <a:t>Meetings &amp; grooming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688336"/>
            <a:ext cx="518464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Ceremony and planning time you fund every sprint.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511296"/>
            <a:ext cx="560527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3511296"/>
            <a:ext cx="77724" cy="1170432"/>
          </a:xfrm>
          <a:prstGeom prst="rect">
            <a:avLst/>
          </a:prstGeom>
          <a:solidFill>
            <a:srgbClr val="C88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3639312"/>
            <a:ext cx="5221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4315A"/>
                </a:solidFill>
                <a:latin typeface="Calibri"/>
              </a:rPr>
              <a:t>Rework &amp; defects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3986783"/>
            <a:ext cx="518464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Fixing issues is billed to you - not absorbed by the vendor.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4809744"/>
            <a:ext cx="560527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0" y="4809744"/>
            <a:ext cx="77724" cy="1170432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4937759"/>
            <a:ext cx="52212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4315A"/>
                </a:solidFill>
                <a:latin typeface="Calibri"/>
              </a:rPr>
              <a:t>Ramp-up &amp; churn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285231"/>
            <a:ext cx="518464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New joiners bill full rate while they get up to speed.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you actually 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Same delivery, two ways to pay - a typical month, and a single 80-point feature.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664208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315A"/>
                </a:solidFill>
                <a:latin typeface="Calibri"/>
              </a:rPr>
              <a:t>A typical month  (~136 story points)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2011680"/>
          <a:ext cx="544068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Today (TNM)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You pay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$48,147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$45,740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For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~136 SP delivered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136 accepted SP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Per point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~$354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$336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928" y="3931920"/>
            <a:ext cx="544068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977639"/>
            <a:ext cx="5440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You save ~$2,407 / month  (~5%)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664208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315A"/>
                </a:solidFill>
                <a:latin typeface="Calibri"/>
              </a:rPr>
              <a:t>A single feature  (80 story points)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99632" y="2011680"/>
          <a:ext cx="544068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Today (TNM)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Feature price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~$28,322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$26,906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80 x ~$354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80 x $336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You pay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regardless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only on acceptance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199632" y="3931920"/>
            <a:ext cx="544068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3977639"/>
            <a:ext cx="5440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You save $1,416 + risk on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1107338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77724" cy="137160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45736"/>
            <a:ext cx="106893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4315A"/>
                </a:solidFill>
                <a:latin typeface="Calibri"/>
              </a:rPr>
              <a:t>How to read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93208"/>
            <a:ext cx="10652759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Today you pay for the hours behind a feature - meetings, rework and all - even if it slips. Under Outcome you pay a fixed $336 per accepted story point, and nothing until it is delivered and signed 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OUR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Outcome-based delivery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Pay a fixed price per accepted story point - and it costs ~5% less than today.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6492240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Fixed price per accepted point</a:t>
            </a:r>
            <a:r>
              <a:rPr sz="1500">
                <a:solidFill>
                  <a:srgbClr val="6B7480"/>
                </a:solidFill>
                <a:latin typeface="Calibri"/>
              </a:rPr>
              <a:t>  not per hour.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A committed monthly volume</a:t>
            </a:r>
            <a:r>
              <a:rPr sz="1500">
                <a:solidFill>
                  <a:srgbClr val="6B7480"/>
                </a:solidFill>
                <a:latin typeface="Calibri"/>
              </a:rPr>
              <a:t>  with an agreed acceptance definition.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You pay only for accepted work</a:t>
            </a:r>
            <a:r>
              <a:rPr sz="1500">
                <a:solidFill>
                  <a:srgbClr val="6B7480"/>
                </a:solidFill>
                <a:latin typeface="Calibri"/>
              </a:rPr>
              <a:t>  rework before acceptance is on us.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Delivery risk moves to Opus</a:t>
            </a:r>
            <a:r>
              <a:rPr sz="1500">
                <a:solidFill>
                  <a:srgbClr val="6B7480"/>
                </a:solidFill>
                <a:latin typeface="Calibri"/>
              </a:rPr>
              <a:t>  attrition, ramp-up and estimation are 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783080"/>
            <a:ext cx="4370832" cy="1051560"/>
          </a:xfrm>
          <a:prstGeom prst="roundRect">
            <a:avLst>
              <a:gd name="adj" fmla="val 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34072" y="1874519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PROPOSED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4072" y="2112264"/>
            <a:ext cx="4041648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$336/SP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4072" y="2596896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per accepted story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3017520"/>
            <a:ext cx="4370832" cy="1051560"/>
          </a:xfrm>
          <a:prstGeom prst="roundRect">
            <a:avLst>
              <a:gd name="adj" fmla="val 5000"/>
            </a:avLst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3108960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MONTHLY COMMITMENT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072" y="3346703"/>
            <a:ext cx="4041648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~136 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3831335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= $45,740 / month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4251960"/>
            <a:ext cx="4370832" cy="1051560"/>
          </a:xfrm>
          <a:prstGeom prst="roundRect">
            <a:avLst>
              <a:gd name="adj" fmla="val 5000"/>
            </a:avLst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4343400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YOU PAY ONLY FOR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4072" y="4581144"/>
            <a:ext cx="4041648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accepted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2" y="5065776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D6EF"/>
                </a:solidFill>
                <a:latin typeface="Calibri"/>
              </a:rPr>
              <a:t>quality-gated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you pay - today vs proposed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You save ~$28.9k a year (~5%) - and only pay for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737360"/>
          <a:ext cx="6035038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874519"/>
                <a:gridCol w="1874519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Time &amp; Material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Outcome-based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Hours x rate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Price per accepted SP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Effective $ / delivered SP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~$354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$336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Monthly invoice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$48,147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$45,740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Yearly invoice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$577,760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$548,876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315A"/>
                          </a:solidFill>
                          <a:latin typeface="Calibri"/>
                        </a:rPr>
                        <a:t>You pay for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All time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B38"/>
                          </a:solidFill>
                          <a:latin typeface="Calibri"/>
                        </a:rPr>
                        <a:t>Accepted output only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812280" y="1737360"/>
            <a:ext cx="4828032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903720" y="1828800"/>
          <a:ext cx="466344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66928" y="5074920"/>
            <a:ext cx="603504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120640"/>
            <a:ext cx="6035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YOUR SAVING:  ~$28.9k/yr  (~5%)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4709160"/>
            <a:ext cx="48280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12280" y="4709160"/>
            <a:ext cx="77724" cy="137160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68312" y="4837176"/>
            <a:ext cx="4443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4315A"/>
                </a:solidFill>
                <a:latin typeface="Calibri"/>
              </a:rPr>
              <a:t>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5184648"/>
            <a:ext cx="440740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Today $48,147 buys ~136 delivered points (~$354 each), paid whether or not they land. At $336 per accepted point you pay less - and only for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BEYOND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What you gain - beyond the saving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Certainty, risk transfer and a delivery commitment - not just a lower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783080"/>
            <a:ext cx="77724" cy="169164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1109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Price 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A fixed rate per point. No surprises from rate revisions or slippage.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78308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783080"/>
            <a:ext cx="77724" cy="1691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91109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Pay for 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258568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Rework, meetings and ramp-up are no longer on your invoice.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1855" y="178308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1855" y="1783080"/>
            <a:ext cx="77724" cy="1691640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7" y="191109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Risk transferred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7" y="2258568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Attrition, ramp-up and estimation risk sit with Opus.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576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657600"/>
            <a:ext cx="77724" cy="169164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78561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Throughput SLA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33087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A committed monthly delivery volume - not an open-ended timesheet.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36576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9392" y="3657600"/>
            <a:ext cx="77724" cy="1691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35424" y="378561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Less overhead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4133087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You govern outcomes, not headcount and utilisation.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91855" y="3657600"/>
            <a:ext cx="35204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91855" y="3657600"/>
            <a:ext cx="77724" cy="1691640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7" y="3785615"/>
            <a:ext cx="31363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4315A"/>
                </a:solidFill>
                <a:latin typeface="Calibri"/>
              </a:rPr>
              <a:t>Built-in quality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7" y="4133087"/>
            <a:ext cx="3099816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480"/>
                </a:solidFill>
                <a:latin typeface="Calibri"/>
              </a:rPr>
              <a:t>Acceptance gate - you sign off before it is billable.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Time-&amp;-Material vs Outcome-based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The same delivery, repriced around results - lower cost and more certainty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783080"/>
          <a:ext cx="1088136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86200"/>
                <a:gridCol w="38862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Time &amp; Material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Outcome-based</a:t>
                      </a:r>
                    </a:p>
                  </a:txBody>
                  <a:tcPr anchor="ctr" marL="91440" marT="18288" marB="18288">
                    <a:solidFill>
                      <a:srgbClr val="14315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You pay for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Hours worked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Accepted story points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Price certainty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Fixed per point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Delivery risk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Yours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Getting faster over time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Fewer billed hours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A lower price per point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Rework / ramp-up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On your invoice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Absorbed by Opus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Your effort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Manage the team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Approve the outcomes</a:t>
                      </a:r>
                    </a:p>
                  </a:txBody>
                  <a:tcPr anchor="ctr" marL="91440" marT="18288" marB="18288">
                    <a:solidFill>
                      <a:srgbClr val="F7F9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Annual cost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$577,760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4315A"/>
                          </a:solidFill>
                          <a:latin typeface="Calibri"/>
                        </a:rPr>
                        <a:t>$548,876</a:t>
                      </a:r>
                    </a:p>
                  </a:txBody>
                  <a:tcPr anchor="ctr" marL="91440" marT="18288" marB="18288">
                    <a:solidFill>
                      <a:srgbClr val="E7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45720"/>
          </a:xfrm>
          <a:prstGeom prst="rect">
            <a:avLst/>
          </a:prstGeom>
          <a:solidFill>
            <a:srgbClr val="2F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FD6EF"/>
                </a:solidFill>
                <a:latin typeface="Calibri"/>
              </a:rPr>
              <a:t>GETTING THERE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A low-risk transition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978408"/>
            <a:ext cx="12191695" cy="457200"/>
          </a:xfrm>
          <a:prstGeom prst="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F6FB0"/>
                </a:solidFill>
                <a:latin typeface="Calibri"/>
              </a:rPr>
              <a:t>Key message:  </a:t>
            </a:r>
            <a:r>
              <a:rPr sz="1250" b="0" i="0">
                <a:solidFill>
                  <a:srgbClr val="14315A"/>
                </a:solidFill>
                <a:latin typeface="Calibri"/>
              </a:rPr>
              <a:t>Validate in parallel first, then switch the SOW - no leap of faith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Prepared by Opus for Apex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10972800" cy="2834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Step 1 - Agree the basics</a:t>
            </a:r>
            <a:r>
              <a:rPr sz="1500">
                <a:solidFill>
                  <a:srgbClr val="6B7480"/>
                </a:solidFill>
                <a:latin typeface="Calibri"/>
              </a:rPr>
              <a:t>  story-point definition, acceptance criteria and monthly volume.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Step 2 - Run in parallel</a:t>
            </a:r>
            <a:r>
              <a:rPr sz="1500">
                <a:solidFill>
                  <a:srgbClr val="6B7480"/>
                </a:solidFill>
                <a:latin typeface="Calibri"/>
              </a:rPr>
              <a:t>  one to two monthly cycles to validate velocity and pricing.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Step 3 - Switch the SOW</a:t>
            </a:r>
            <a:r>
              <a:rPr sz="1500">
                <a:solidFill>
                  <a:srgbClr val="6B7480"/>
                </a:solidFill>
                <a:latin typeface="Calibri"/>
              </a:rPr>
              <a:t>  to a fixed price per accepted point.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2F6FB0"/>
                </a:solidFill>
                <a:latin typeface="Calibri"/>
              </a:rPr>
              <a:t>—  </a:t>
            </a:r>
            <a:r>
              <a:rPr sz="1500" b="1">
                <a:solidFill>
                  <a:srgbClr val="222B38"/>
                </a:solidFill>
                <a:latin typeface="Calibri"/>
              </a:rPr>
              <a:t>Step 4 - Review &amp; extend</a:t>
            </a:r>
            <a:r>
              <a:rPr sz="1500">
                <a:solidFill>
                  <a:srgbClr val="6B7480"/>
                </a:solidFill>
                <a:latin typeface="Calibri"/>
              </a:rPr>
              <a:t>  quarterly reviews; extend across other workstreams.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62179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6217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You save ~$28.9k/yr + gain 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315A"/>
                </a:solidFill>
                <a:latin typeface="Calibri"/>
              </a:rPr>
              <a:t>Let's deliver outcomes, not hours.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7480"/>
                </a:solidFill>
                <a:latin typeface="Calibri"/>
              </a:rPr>
              <a:t>We're ready to start the parallel run next sprint.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