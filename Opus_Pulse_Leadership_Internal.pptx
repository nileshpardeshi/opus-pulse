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4315A"/>
                </a:solidFill>
              </a:rPr>
              <a:t>TNM monthly economics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$</c:v>
                </c:pt>
              </c:strCache>
            </c:strRef>
          </c:tx>
          <c:spPr>
            <a:solidFill>
              <a:srgbClr val="2F6FB0"/>
            </a:solidFill>
          </c:spPr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Cost</c:v>
                </c:pt>
                <c:pt idx="2">
                  <c:v>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48147.0</c:v>
                </c:pt>
                <c:pt idx="1">
                  <c:v>28900.0</c:v>
                </c:pt>
                <c:pt idx="2">
                  <c:v>19247.0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4315A"/>
                </a:solidFill>
              </a:rPr>
              <a:t>Monthly economics: TNM vs Outcome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TNM (monthly)</c:v>
                </c:pt>
              </c:strCache>
            </c:strRef>
          </c:tx>
          <c:spPr>
            <a:solidFill>
              <a:srgbClr val="6B7480"/>
            </a:solidFill>
          </c:spPr>
          <c:cat>
            <c:strRef>
              <c:f>Sheet1!$A$2:$A$4</c:f>
              <c:strCache>
                <c:ptCount val="3"/>
                <c:pt idx="0">
                  <c:v>Client pays</c:v>
                </c:pt>
                <c:pt idx="1">
                  <c:v>Opus cost</c:v>
                </c:pt>
                <c:pt idx="2">
                  <c:v>Opus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48147.0</c:v>
                </c:pt>
                <c:pt idx="1">
                  <c:v>28900.0</c:v>
                </c:pt>
                <c:pt idx="2">
                  <c:v>19247.0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Outcome (monthly)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Sheet1!$A$2:$A$4</c:f>
              <c:strCache>
                <c:ptCount val="3"/>
                <c:pt idx="0">
                  <c:v>Client pays</c:v>
                </c:pt>
                <c:pt idx="1">
                  <c:v>Opus cost</c:v>
                </c:pt>
                <c:pt idx="2">
                  <c:v>Opus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45739.65</c:v>
                </c:pt>
                <c:pt idx="1">
                  <c:v>26272.727272727272</c:v>
                </c:pt>
                <c:pt idx="2">
                  <c:v>19466.92272727273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913632"/>
            <a:ext cx="6766560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D6EF"/>
                </a:solidFill>
                <a:latin typeface="Calibri"/>
              </a:rPr>
              <a:t>OPUS  ·  DELIVERY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D6EF"/>
                </a:solidFill>
                <a:latin typeface="Calibri"/>
              </a:rPr>
              <a:t>INTERNAL LEADERSHIP BRIEFING  ·  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700" b="1" i="0">
                <a:solidFill>
                  <a:srgbClr val="FFFFFF"/>
                </a:solidFill>
                <a:latin typeface="Calibri"/>
              </a:rPr>
              <a:t>Apex Bank — Payments Gateway
TNM to Outcome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FD6EF"/>
                </a:solidFill>
                <a:latin typeface="Calibri"/>
              </a:rPr>
              <a:t>The margin case for moving from Time-&amp;-Material to Outcome-based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Confidential - Opus internal only. Contains cost &amp; margin.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Convert Payments Gateway to Outcome: the client pays ~5% less while our margin rises 40% -&gt; 42.6% and the efficiency we unlock becomes ours to keep.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MARGIN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23682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9689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$577.8k/yr 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OUTCOME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75104"/>
            <a:ext cx="23682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42.6%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9689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+2.6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EXTRA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75104"/>
            <a:ext cx="23682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+$2.6k/yr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9689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plus the mix upside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164592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CLIENT SAVING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975104"/>
            <a:ext cx="223113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$28.9k/yr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96896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~5% 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08960"/>
            <a:ext cx="35204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108960"/>
            <a:ext cx="77724" cy="29718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36976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The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584448"/>
            <a:ext cx="3099816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Move Payments Gateway from billing time at a frozen rate to a fixed price per accepted story point, anchored to today's run-rate.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3108960"/>
            <a:ext cx="35204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42816" y="3108960"/>
            <a:ext cx="77724" cy="29718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236976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Why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3584448"/>
            <a:ext cx="3099816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Under TNM, any efficiency we create just reduces billed hours and is handed to the client. Under Outcome the price is fixed - a leaner resource mix and trimmed overhead become OUR margin, and we share a small slice back.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18704" y="3108960"/>
            <a:ext cx="372160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18704" y="3108960"/>
            <a:ext cx="77724" cy="2971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3236976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The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3584448"/>
            <a:ext cx="3300984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Pilot the conversion on this engagement, commit ~120 SP/month, lock the price-per-point, and stand up the resource pyramid that funds the efficiency. Expand on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2860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47472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Why Time-&amp;-Material quietly caps our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Apex Bank  ·  Payments Gateway  ·  TNM -&gt;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CURRENT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Where we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A 10-person team bills $48,147/month at ~40% margin - healthy, but the rate is frozen.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645920"/>
          <a:ext cx="66751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17320"/>
                <a:gridCol w="109728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 (yrs)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Rate/hr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5 to 8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8 to 10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Tech Lead (Dev)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9 to 12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Sr QA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5 to 8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Lead QA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9 to 12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PO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12 to 14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Total team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$314/hr blended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1645920"/>
            <a:ext cx="4142232" cy="841248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1737360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BILLABLE DAYS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1975104"/>
            <a:ext cx="3813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249424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365 - 104 wknd - 10 hol - 21 leave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06040"/>
            <a:ext cx="4142232" cy="841248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97480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MONTHLY BILLING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935224"/>
            <a:ext cx="3813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$48,147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209544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153.3 hrs/mo x $314 blended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566160"/>
            <a:ext cx="4142232" cy="841248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3657600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YEARLY BILLING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3895344"/>
            <a:ext cx="3813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$577,760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4169664"/>
            <a:ext cx="3813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frozen at the SOW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63440"/>
            <a:ext cx="110733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77724" cy="13716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91455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How the numbers are 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7"/>
            <a:ext cx="106527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Billable hours/yr = 230 days x 8 hrs = 1,840 hrs -&gt; 153.3 hrs/month.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Monthly billing = (count x rate) x billable hours = $314/hr x 153.3 = $48,147.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Loaded cost (salaries, infra, licenses, travel, training) ~ $28,900/month -&gt; 40%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CURRENT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TNM margin math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We bill $48,147/mo against ~$28,900 cost - a healthy 40% margin that erodes as cost rises and the rate stays flat.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691640"/>
          <a:ext cx="5394960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0876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Yearly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Billing (revenue)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$48,147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$577,760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Loaded cost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$28,900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$346,800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$19,247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$230,964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Margin %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315A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2200" y="16916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0" y="1783080"/>
          <a:ext cx="5212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3840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40480"/>
            <a:ext cx="77724" cy="219456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68496"/>
            <a:ext cx="5010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The catch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4974336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222B38"/>
                </a:solidFill>
                <a:latin typeface="Calibri"/>
              </a:rPr>
              <a:t>Margin is healthy today - but frozen.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Appraisals raise cost each year while the bill rate stays flat, so margin compresses over the SOW.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And any productivity we gain just reduces billed hours - the saving goes to the client, not 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Why TNM caps our upside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Three structural limits: frozen revenue, punished efficiency, and unpriced delivery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737360"/>
            <a:ext cx="77724" cy="274320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65376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315A"/>
                </a:solidFill>
                <a:latin typeface="Calibri"/>
              </a:rPr>
              <a:t>1.  Revenue is frozen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12848"/>
            <a:ext cx="3099816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Locked at the SOW rate. Cost rises every year (appraisals, attrition backfills), so margin silently compresses.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73736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737360"/>
            <a:ext cx="77724" cy="274320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865376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315A"/>
                </a:solidFill>
                <a:latin typeface="Calibri"/>
              </a:rPr>
              <a:t>2.  Efficiency is punished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212848"/>
            <a:ext cx="3099816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Deliver the same scope with fewer / cheaper people and we simply bill fewer hours - the client keeps 100% of the saving.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5" y="173736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5" y="1737360"/>
            <a:ext cx="77724" cy="274320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7" y="1865376"/>
            <a:ext cx="3136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315A"/>
                </a:solidFill>
                <a:latin typeface="Calibri"/>
              </a:rPr>
              <a:t>3.  Risk is unpriced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7" y="2212848"/>
            <a:ext cx="3099816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We carry attrition, ramp-up and rework, but TNM gives us no way to price for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80"/>
            <a:ext cx="11073384" cy="1234440"/>
          </a:xfrm>
          <a:prstGeom prst="roundRect">
            <a:avLst>
              <a:gd name="adj" fmla="val 4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64608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Outcome-based delivery flips all three:  </a:t>
            </a:r>
            <a:r>
              <a:rPr sz="1400" b="0" i="0">
                <a:solidFill>
                  <a:srgbClr val="BFD6EF"/>
                </a:solidFill>
                <a:latin typeface="Calibri"/>
              </a:rPr>
              <a:t>the price is fixed to scope, a leaner mix becomes our margin, and delivery risk is priced into the bid.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2860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The Outcome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47472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Price the outcome, keep the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Apex Bank  ·  Payments Gateway  ·  TNM -&gt; Outcome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PROPOSED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Mechanics &amp; capacity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Capacity -&gt; velocity -&gt; price per point; we test two cases (7 vs 8 SP/person) with a 15% reserve.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" y="1691640"/>
            <a:ext cx="2697480" cy="777240"/>
          </a:xfrm>
          <a:prstGeom prst="chevron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Per-person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420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7480"/>
                </a:solidFill>
                <a:latin typeface="Calibri"/>
              </a:rPr>
              <a:t>7-8 SP / sprint x 10 people</a:t>
            </a:r>
          </a:p>
        </p:txBody>
      </p:sp>
      <p:sp>
        <p:nvSpPr>
          <p:cNvPr id="14" name="Chevron 13"/>
          <p:cNvSpPr/>
          <p:nvPr/>
        </p:nvSpPr>
        <p:spPr>
          <a:xfrm>
            <a:off x="3364992" y="1691640"/>
            <a:ext cx="2697480" cy="777240"/>
          </a:xfrm>
          <a:prstGeom prst="chevron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6916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Less 15% 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5420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7480"/>
                </a:solidFill>
                <a:latin typeface="Calibri"/>
              </a:rPr>
              <a:t>meetings, grooming, issues</a:t>
            </a:r>
          </a:p>
        </p:txBody>
      </p:sp>
      <p:sp>
        <p:nvSpPr>
          <p:cNvPr id="17" name="Chevron 16"/>
          <p:cNvSpPr/>
          <p:nvPr/>
        </p:nvSpPr>
        <p:spPr>
          <a:xfrm>
            <a:off x="6163056" y="1691640"/>
            <a:ext cx="2697480" cy="777240"/>
          </a:xfrm>
          <a:prstGeom prst="chevron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916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x 2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420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7480"/>
                </a:solidFill>
                <a:latin typeface="Calibri"/>
              </a:rPr>
              <a:t>= deliverable SP / month</a:t>
            </a:r>
          </a:p>
        </p:txBody>
      </p:sp>
      <p:sp>
        <p:nvSpPr>
          <p:cNvPr id="20" name="Chevron 19"/>
          <p:cNvSpPr/>
          <p:nvPr/>
        </p:nvSpPr>
        <p:spPr>
          <a:xfrm>
            <a:off x="8961119" y="1691640"/>
            <a:ext cx="2697480" cy="77724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16916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Price per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420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7480"/>
                </a:solidFill>
                <a:latin typeface="Calibri"/>
              </a:rPr>
              <a:t>run-rate / SP, then share-back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3383280"/>
          <a:ext cx="11064240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Case 1  (7 SP/person)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Case 2  (8 SP/person)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Gross team velocity / sprint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70 SP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80 SP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Less 15% reserve -&gt; effective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59.5 SP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68 SP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Deliverable SP / month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119 SP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136 SP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Meets 120-SP min invoice?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No (119) - lower min to ~110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5943600"/>
            <a:ext cx="11073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480"/>
                </a:solidFill>
                <a:latin typeface="Calibri"/>
              </a:rPr>
              <a:t>Both cases bill the same monthly total (price anchored to the run-rate) - velocity changes the rate per point and whether the minimum invoice is met.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Outcome price calculation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Anchor to the TNM run-rate, share 5% with the client - and the hard floor is always respected.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691640"/>
          <a:ext cx="6858000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Case 1 (7 SP)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Case 2 (8 SP)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Deliverable SP / month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Break-even price/SP (run-rate / SP)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$405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$354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Client share-back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-5%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-5%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Recommended price/SP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$384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$336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Monthly bill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$45,740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$45,740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Yearly bill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1691640"/>
            <a:ext cx="4005072" cy="86868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1783080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RECOMMENDED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2020824"/>
            <a:ext cx="3675887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$336/SP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322576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Case 2, 5% share-back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97480"/>
            <a:ext cx="4005072" cy="868680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2788920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MONTHLY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026664"/>
            <a:ext cx="3675887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$45,740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3328416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vs $48,147 TNM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703320"/>
            <a:ext cx="4005072" cy="868680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3794759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OUTCOME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032504"/>
            <a:ext cx="3675887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$26,273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4334256"/>
            <a:ext cx="3675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$28.9k / (1 + 10% eff.)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983480"/>
            <a:ext cx="1107338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983480"/>
            <a:ext cx="77724" cy="105156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1149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58968"/>
            <a:ext cx="10652759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The price is always clamped to &gt;= cost / (1 - min margin) and &gt;= the TNM run-rate. The 5% we give the client is funded by a realistic 10% delivery-efficiency we keep under Outcome (next slide).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FUNDING THE GAIN - NO NEW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Where the 10% efficiency comes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We already use AI tooling under TNM - the gain comes from what Outcome unlocks: a leaner resource mix.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77724" cy="126187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19656"/>
            <a:ext cx="5010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315A"/>
                </a:solidFill>
                <a:latin typeface="Calibri"/>
              </a:rPr>
              <a:t>Resource pyramid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67128"/>
            <a:ext cx="4974336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Price is fixed per point, so the client no longer pays per named resource. Use freshers for routine work with senior oversight; blended cost drops while the price holds.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69164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691640"/>
            <a:ext cx="77724" cy="1261872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19656"/>
            <a:ext cx="5010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315A"/>
                </a:solidFill>
                <a:latin typeface="Calibri"/>
              </a:rPr>
              <a:t>Talent rotation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167128"/>
            <a:ext cx="4974336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As juniors gain skill (and cost), rotate them onto other billable projects; bring in fresh low-cost joiners.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06324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063240"/>
            <a:ext cx="77724" cy="1261872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91256"/>
            <a:ext cx="5010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315A"/>
                </a:solidFill>
                <a:latin typeface="Calibri"/>
              </a:rPr>
              <a:t>Trim overhead 20% -&gt;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38728"/>
            <a:ext cx="4974336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Less ceremony / meeting time; the same team delivers more points per month.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7336" y="306324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3063240"/>
            <a:ext cx="77724" cy="1261872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191256"/>
            <a:ext cx="5010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315A"/>
                </a:solidFill>
                <a:latin typeface="Calibri"/>
              </a:rPr>
              <a:t>Leaner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538728"/>
            <a:ext cx="4974336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No gold-plating; tighter Definition-of-Done -&gt; less rework, which is OUR cost under Outcome.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4526280"/>
          <a:ext cx="6675120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Per story point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Senior pod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Junior-heavy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Cost / sprint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$4,000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$2,600  (-35%)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8 SP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6 SP  (-25%)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Cost / SP (after ~10% rework)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B38"/>
                          </a:solidFill>
                          <a:latin typeface="Calibri"/>
                        </a:rPr>
                        <a:t>$476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Net efficiency / point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315A"/>
                          </a:solidFill>
                          <a:latin typeface="Calibri"/>
                        </a:rPr>
                        <a:t>~5-10%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406640" y="4526280"/>
            <a:ext cx="42336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4526280"/>
            <a:ext cx="77724" cy="178308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4654296"/>
            <a:ext cx="3849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The honest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5001768"/>
            <a:ext cx="3813048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A 35% salary gap nets only ~5-10% per point once slower velocity and rework are subtracted. Use a pyramid (juniors + senior oversight), never all-juniors, or you miss the commitment.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2860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The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47472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A genuine win-win - and how we de-risk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Apex Bank  ·  Payments Gateway  ·  TNM -&gt; Outcome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THE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TNM vs Outcome - the win-win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The client pays less AND we earn more - because Outcome lets us keep efficiency TNM would give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6400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" y="1783080"/>
          <a:ext cx="62179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178040" y="1691640"/>
            <a:ext cx="4462272" cy="84124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783080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020824"/>
            <a:ext cx="4133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40% -&gt; 42.6%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295144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+2.6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651760"/>
            <a:ext cx="4462272" cy="84124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2743200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EXTRA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980944"/>
            <a:ext cx="4133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+$2,639/yr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3255263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plus mix upside we retain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611880"/>
            <a:ext cx="4462272" cy="841248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3703320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CLIENT SAVING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3941064"/>
            <a:ext cx="4133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$28,888/yr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4215384"/>
            <a:ext cx="4133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D6EF"/>
                </a:solidFill>
                <a:latin typeface="Calibri"/>
              </a:rPr>
              <a:t>client pays ~5% less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4572000"/>
            <a:ext cx="4462272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617720"/>
            <a:ext cx="4462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RESULT:   WIN  -  WIN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15000"/>
            <a:ext cx="110733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715000"/>
            <a:ext cx="77724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4301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Why it 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190488"/>
            <a:ext cx="10652759" cy="210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Efficiency saving $2,627/mo is greater than the discount given $2,407/mo - so the client pays less and our profit still rises. Dial the discount down (e.g. 4%) to widen Opus' share.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DE-RISKING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Risks &amp; how we control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The model is protected by pricing discipline and a senior-anchored delivery pyramid.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737360"/>
          <a:ext cx="11073384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714146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Juniors slow velocity / miss commit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Pyramid with senior oversight; anchor price to a conservative velocity; minimum-invoice floor.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Quality / rework on junior work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Acceptance gate; strong Definition-of-Done; rework is pre-acceptance (our cost, buffered).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Rotation loses knowledge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Stagger rotations; document; keep a stable senior core on the pod.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Scope creep on fixed price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All changes via priced change requests - nothing absorbed for free.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Client rejects fixed price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Sequence: managed-capacity -&gt; gain-share -&gt; outcome to build trust first.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Pilot the conversion now; the mix saving is retained as it grows, and the client pays 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Confidential - Opus internal (contains cost &amp; margin)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10972800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Approve a pilot conversion</a:t>
            </a:r>
            <a:r>
              <a:rPr sz="1500">
                <a:solidFill>
                  <a:srgbClr val="6B7480"/>
                </a:solidFill>
                <a:latin typeface="Calibri"/>
              </a:rPr>
              <a:t>  of Payments Gateway to Outcome-based delivery.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Commit &amp; price</a:t>
            </a:r>
            <a:r>
              <a:rPr sz="1500">
                <a:solidFill>
                  <a:srgbClr val="6B7480"/>
                </a:solidFill>
                <a:latin typeface="Calibri"/>
              </a:rPr>
              <a:t>  ~136 SP/month at $336/SP (Case 2); lower the invoice minimum to ~110 if we staff to 7 SP/person.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Stand up the pyramid</a:t>
            </a:r>
            <a:r>
              <a:rPr sz="1500">
                <a:solidFill>
                  <a:srgbClr val="6B7480"/>
                </a:solidFill>
                <a:latin typeface="Calibri"/>
              </a:rPr>
              <a:t>  fresher intake + senior oversight + rotation - the engine that funds the efficiency.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Tighten delivery</a:t>
            </a:r>
            <a:r>
              <a:rPr sz="1500">
                <a:solidFill>
                  <a:srgbClr val="6B7480"/>
                </a:solidFill>
                <a:latin typeface="Calibri"/>
              </a:rPr>
              <a:t>  trim ceremonies to a 15% reserve and harden the Definition-of-Done to cut rework.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Lock the SOW addendum</a:t>
            </a:r>
            <a:r>
              <a:rPr sz="1500">
                <a:solidFill>
                  <a:srgbClr val="6B7480"/>
                </a:solidFill>
                <a:latin typeface="Calibri"/>
              </a:rPr>
              <a:t>  fix the price-per-point and acceptance definition; review after two invoices, then expand.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715000"/>
            <a:ext cx="676656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6766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Target:  40% -&gt; 42.6% margin, same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