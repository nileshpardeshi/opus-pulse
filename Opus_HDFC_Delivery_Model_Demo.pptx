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50" b="1">
                <a:solidFill>
                  <a:srgbClr val="14315A"/>
                </a:solidFill>
              </a:rPr>
              <a:t>Resources by project</a:t>
            </a:r>
          </a:p>
        </c:rich>
      </c:tx>
      <c:layout/>
      <c:overlay val="0"/>
    </c:title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Offshore</c:v>
                </c:pt>
              </c:strCache>
            </c:strRef>
          </c:tx>
          <c:spPr>
            <a:solidFill>
              <a:srgbClr val="2F6FB0"/>
            </a:solidFill>
          </c:spPr>
          <c:cat>
            <c:strRef>
              <c:f>Sheet1!$A$2:$A$6</c:f>
              <c:strCache>
                <c:ptCount val="5"/>
                <c:pt idx="0">
                  <c:v>Project 1</c:v>
                </c:pt>
                <c:pt idx="1">
                  <c:v>Project 2</c:v>
                </c:pt>
                <c:pt idx="2">
                  <c:v>Project 3</c:v>
                </c:pt>
                <c:pt idx="3">
                  <c:v>Project 4</c:v>
                </c:pt>
                <c:pt idx="4">
                  <c:v>Project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0</c:v>
                </c:pt>
                <c:pt idx="2">
                  <c:v>1</c:v>
                </c:pt>
                <c:pt idx="3">
                  <c:v>6</c:v>
                </c:pt>
                <c:pt idx="4">
                  <c:v>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Onsite</c:v>
                </c:pt>
              </c:strCache>
            </c:strRef>
          </c:tx>
          <c:spPr>
            <a:solidFill>
              <a:srgbClr val="14315A"/>
            </a:solidFill>
          </c:spPr>
          <c:cat>
            <c:strRef>
              <c:f>Sheet1!$A$2:$A$6</c:f>
              <c:strCache>
                <c:ptCount val="5"/>
                <c:pt idx="0">
                  <c:v>Project 1</c:v>
                </c:pt>
                <c:pt idx="1">
                  <c:v>Project 2</c:v>
                </c:pt>
                <c:pt idx="2">
                  <c:v>Project 3</c:v>
                </c:pt>
                <c:pt idx="3">
                  <c:v>Project 4</c:v>
                </c:pt>
                <c:pt idx="4">
                  <c:v>Project 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2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Buffer</c:v>
                </c:pt>
              </c:strCache>
            </c:strRef>
          </c:tx>
          <c:spPr>
            <a:solidFill>
              <a:srgbClr val="C8860D"/>
            </a:solidFill>
          </c:spPr>
          <c:cat>
            <c:strRef>
              <c:f>Sheet1!$A$2:$A$6</c:f>
              <c:strCache>
                <c:ptCount val="5"/>
                <c:pt idx="0">
                  <c:v>Project 1</c:v>
                </c:pt>
                <c:pt idx="1">
                  <c:v>Project 2</c:v>
                </c:pt>
                <c:pt idx="2">
                  <c:v>Project 3</c:v>
                </c:pt>
                <c:pt idx="3">
                  <c:v>Project 4</c:v>
                </c:pt>
                <c:pt idx="4">
                  <c:v>Project 5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913632"/>
            <a:ext cx="6766560" cy="45720"/>
          </a:xfrm>
          <a:prstGeom prst="rect">
            <a:avLst/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7772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BFD6EF"/>
                </a:solidFill>
                <a:latin typeface="Calibri"/>
              </a:rPr>
              <a:t>OPUS  ·  DELIVERY EXCELLENCE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5740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BFD6EF"/>
                </a:solidFill>
                <a:latin typeface="Calibri"/>
              </a:rPr>
              <a:t>INTERNAL LEADERSHIP BRIEFING  ·  CTO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51460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HDFC Bank — How Our
Delivery Model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11480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BFD6EF"/>
                </a:solidFill>
                <a:latin typeface="Calibri"/>
              </a:rPr>
              <a:t>Portfolio  ·  Resourcing  ·  SAFe ways-of-working  ·  Project 5 deep dive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617220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6B7480"/>
                </a:solidFill>
                <a:latin typeface="Calibri"/>
              </a:rPr>
              <a:t>Confidential — Opus internal. Client and project names are placeholders.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43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45720"/>
          </a:xfrm>
          <a:prstGeom prst="rect">
            <a:avLst/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7160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BFD6EF"/>
                </a:solidFill>
                <a:latin typeface="Calibri"/>
              </a:rPr>
              <a:t>OPUS  ·  DELIVERY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FFFF"/>
                </a:solidFill>
                <a:latin typeface="Calibri"/>
              </a:rPr>
              <a:t>Engagement at a glance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78408"/>
            <a:ext cx="12191695" cy="4572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033271"/>
            <a:ext cx="11064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F6FB0"/>
                </a:solidFill>
                <a:latin typeface="Calibri"/>
              </a:rPr>
              <a:t>Key message:  </a:t>
            </a:r>
            <a:r>
              <a:rPr sz="1250" b="0" i="0">
                <a:solidFill>
                  <a:srgbClr val="14315A"/>
                </a:solidFill>
                <a:latin typeface="Calibri"/>
              </a:rPr>
              <a:t>Opus runs 5 projects for HDFC Bank — offshore-led, and now driving Project 5 toward production.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480"/>
                </a:solidFill>
                <a:latin typeface="Calibri"/>
              </a:rPr>
              <a:t>HDFC Bank  ·  Delivery Model  ·  Internal leadership briefing (confidential)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10528"/>
            <a:ext cx="777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480"/>
                </a:solidFill>
                <a:latin typeface="Calibri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645920"/>
            <a:ext cx="2697480" cy="1234440"/>
          </a:xfrm>
          <a:prstGeom prst="roundRect">
            <a:avLst>
              <a:gd name="adj" fmla="val 5000"/>
            </a:avLst>
          </a:prstGeom>
          <a:solidFill>
            <a:srgbClr val="143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737360"/>
            <a:ext cx="236829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BFD6EF"/>
                </a:solidFill>
                <a:latin typeface="Calibri"/>
              </a:rPr>
              <a:t>PROJECTS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975104"/>
            <a:ext cx="2368296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42616"/>
            <a:ext cx="236829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BFD6EF"/>
                </a:solidFill>
                <a:latin typeface="Calibri"/>
              </a:rPr>
              <a:t>under one client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1645920"/>
            <a:ext cx="2697480" cy="1234440"/>
          </a:xfrm>
          <a:prstGeom prst="roundRect">
            <a:avLst>
              <a:gd name="adj" fmla="val 5000"/>
            </a:avLst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0" y="1737360"/>
            <a:ext cx="236829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BFD6EF"/>
                </a:solidFill>
                <a:latin typeface="Calibri"/>
              </a:rPr>
              <a:t>OPUS RESOURCES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1975104"/>
            <a:ext cx="2368296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2642616"/>
            <a:ext cx="236829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BFD6EF"/>
                </a:solidFill>
                <a:latin typeface="Calibri"/>
              </a:rPr>
              <a:t>21 billable + 2 buffer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1645920"/>
            <a:ext cx="2697480" cy="1234440"/>
          </a:xfrm>
          <a:prstGeom prst="roundRect">
            <a:avLst>
              <a:gd name="adj" fmla="val 5000"/>
            </a:avLst>
          </a:prstGeom>
          <a:solidFill>
            <a:srgbClr val="143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737360"/>
            <a:ext cx="236829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BFD6EF"/>
                </a:solidFill>
                <a:latin typeface="Calibri"/>
              </a:rPr>
              <a:t>DELIVERY MIX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975104"/>
            <a:ext cx="2368296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19 :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642616"/>
            <a:ext cx="236829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BFD6EF"/>
                </a:solidFill>
                <a:latin typeface="Calibri"/>
              </a:rPr>
              <a:t>offshore : onsite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70848" y="1645920"/>
            <a:ext cx="2560320" cy="1234440"/>
          </a:xfrm>
          <a:prstGeom prst="roundRect">
            <a:avLst>
              <a:gd name="adj" fmla="val 5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1737360"/>
            <a:ext cx="22311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BFD6EF"/>
                </a:solidFill>
                <a:latin typeface="Calibri"/>
              </a:rPr>
              <a:t>FRAMEWORK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1975104"/>
            <a:ext cx="2231136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SAFe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2642616"/>
            <a:ext cx="22311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BFD6EF"/>
                </a:solidFill>
                <a:latin typeface="Calibri"/>
              </a:rPr>
              <a:t>4 PIs / year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3154680"/>
            <a:ext cx="5440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66928" y="3154680"/>
            <a:ext cx="77724" cy="1417320"/>
          </a:xfrm>
          <a:prstGeom prst="rect">
            <a:avLst/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3282696"/>
            <a:ext cx="505663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315A"/>
                </a:solidFill>
                <a:latin typeface="Calibri"/>
              </a:rPr>
              <a:t>What we deliver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3630168"/>
            <a:ext cx="5020056" cy="850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6B7480"/>
                </a:solidFill>
                <a:latin typeface="Calibri"/>
              </a:rPr>
              <a:t>Five projects spanning ATM engineering &amp; QA, development leads, and a full agile product team on Project 5 — staffed predominantly offshore (19 of 21 billable).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99632" y="3154680"/>
            <a:ext cx="5440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9632" y="3154680"/>
            <a:ext cx="77724" cy="1417320"/>
          </a:xfrm>
          <a:prstGeom prst="rect">
            <a:avLst/>
          </a:prstGeom>
          <a:solidFill>
            <a:srgbClr val="143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3282696"/>
            <a:ext cx="505663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315A"/>
                </a:solidFill>
                <a:latin typeface="Calibri"/>
              </a:rPr>
              <a:t>How the client operates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55664" y="3630168"/>
            <a:ext cx="5020056" cy="850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6B7480"/>
                </a:solidFill>
                <a:latin typeface="Calibri"/>
              </a:rPr>
              <a:t>HDFC Bank runs the Scaled Agile Framework: every team plugs into a shared rhythm of 4 Program Increments a year and commits scope at PI planning.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" y="4754880"/>
            <a:ext cx="11073384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66928" y="4754880"/>
            <a:ext cx="77724" cy="14173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4882896"/>
            <a:ext cx="1068933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315A"/>
                </a:solidFill>
                <a:latin typeface="Calibri"/>
              </a:rPr>
              <a:t>Why this briefing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5230368"/>
            <a:ext cx="10652759" cy="850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6B7480"/>
                </a:solidFill>
                <a:latin typeface="Calibri"/>
              </a:rPr>
              <a:t>Project 5 is our flagship — a three-team agile train inside a ~25-person ecosystem, with three customers heading to production (two in Q3 2026, a very large one in Q1 2027). This deck walks the model end-to-end.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310128"/>
            <a:ext cx="12191695" cy="45720"/>
          </a:xfrm>
          <a:prstGeom prst="rect">
            <a:avLst/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20116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 i="0">
                <a:solidFill>
                  <a:srgbClr val="2F6FB0"/>
                </a:solidFill>
                <a:latin typeface="Calibr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2331720"/>
            <a:ext cx="8595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The Portfolio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3520440"/>
            <a:ext cx="8595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BFD6EF"/>
                </a:solidFill>
                <a:latin typeface="Calibri"/>
              </a:rPr>
              <a:t>Five projects, the people on them, and how they are deployed.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480"/>
                </a:solidFill>
                <a:latin typeface="Calibri"/>
              </a:rPr>
              <a:t>HDFC Bank  ·  Delivery Model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43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45720"/>
          </a:xfrm>
          <a:prstGeom prst="rect">
            <a:avLst/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7160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BFD6EF"/>
                </a:solidFill>
                <a:latin typeface="Calibri"/>
              </a:rPr>
              <a:t>OPUS  ·  DELIVERY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FFFF"/>
                </a:solidFill>
                <a:latin typeface="Calibri"/>
              </a:rPr>
              <a:t>The portfolio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78408"/>
            <a:ext cx="12191695" cy="4572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033271"/>
            <a:ext cx="11064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F6FB0"/>
                </a:solidFill>
                <a:latin typeface="Calibri"/>
              </a:rPr>
              <a:t>Key message:  </a:t>
            </a:r>
            <a:r>
              <a:rPr sz="1250" b="0" i="0">
                <a:solidFill>
                  <a:srgbClr val="14315A"/>
                </a:solidFill>
                <a:latin typeface="Calibri"/>
              </a:rPr>
              <a:t>Across 5 projects we field 23 resources — 19 offshore, 2 onsite, 2 on buffer.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480"/>
                </a:solidFill>
                <a:latin typeface="Calibri"/>
              </a:rPr>
              <a:t>HDFC Bank  ·  Delivery Model  ·  Internal leadership briefing (confidential)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10528"/>
            <a:ext cx="777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480"/>
                </a:solidFill>
                <a:latin typeface="Calibri"/>
              </a:rPr>
              <a:t>3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66928" y="1691640"/>
          <a:ext cx="11064240" cy="40050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88720"/>
                <a:gridCol w="914400"/>
                <a:gridCol w="841248"/>
                <a:gridCol w="932688"/>
                <a:gridCol w="841248"/>
                <a:gridCol w="786384"/>
                <a:gridCol w="5559552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Project</a:t>
                      </a:r>
                    </a:p>
                  </a:txBody>
                  <a:tcPr anchor="ctr" marL="91440" marT="18288" marB="18288">
                    <a:solidFill>
                      <a:srgbClr val="1431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Billable</a:t>
                      </a:r>
                    </a:p>
                  </a:txBody>
                  <a:tcPr anchor="ctr" marL="91440" marT="18288" marB="18288">
                    <a:solidFill>
                      <a:srgbClr val="1431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Onsite</a:t>
                      </a:r>
                    </a:p>
                  </a:txBody>
                  <a:tcPr anchor="ctr" marL="91440" marT="18288" marB="18288">
                    <a:solidFill>
                      <a:srgbClr val="1431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Offshore</a:t>
                      </a:r>
                    </a:p>
                  </a:txBody>
                  <a:tcPr anchor="ctr" marL="91440" marT="18288" marB="18288">
                    <a:solidFill>
                      <a:srgbClr val="1431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Buffer</a:t>
                      </a:r>
                    </a:p>
                  </a:txBody>
                  <a:tcPr anchor="ctr" marL="91440" marT="18288" marB="18288">
                    <a:solidFill>
                      <a:srgbClr val="1431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anchor="ctr" marL="91440" marT="18288" marB="18288">
                    <a:solidFill>
                      <a:srgbClr val="1431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Roles  (rate/hr)</a:t>
                      </a:r>
                    </a:p>
                  </a:txBody>
                  <a:tcPr anchor="ctr" marL="91440" marT="18288" marB="18288">
                    <a:solidFill>
                      <a:srgbClr val="14315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4315A"/>
                          </a:solidFill>
                          <a:latin typeface="Calibri"/>
                        </a:rPr>
                        <a:t>Project 1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ATM Test Engineer x2 ($32)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4315A"/>
                          </a:solidFill>
                          <a:latin typeface="Calibri"/>
                        </a:rPr>
                        <a:t>Project 2</a:t>
                      </a:r>
                    </a:p>
                  </a:txBody>
                  <a:tcPr anchor="ctr" marL="91440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91440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91440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91440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91440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91440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ATM Solution Engg x1 ($90); ATM QA x1 ($89)</a:t>
                      </a:r>
                    </a:p>
                  </a:txBody>
                  <a:tcPr anchor="ctr" marL="91440" marT="18288" marB="18288">
                    <a:solidFill>
                      <a:srgbClr val="F7F9FC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4315A"/>
                          </a:solidFill>
                          <a:latin typeface="Calibri"/>
                        </a:rPr>
                        <a:t>Project 3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Tech Lead x1 ($32)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4315A"/>
                          </a:solidFill>
                          <a:latin typeface="Calibri"/>
                        </a:rPr>
                        <a:t>Project 4</a:t>
                      </a:r>
                    </a:p>
                  </a:txBody>
                  <a:tcPr anchor="ctr" marL="91440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L="91440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91440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L="91440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91440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 marL="91440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Lead Dev x1 ($32); Lead Dev x1 ($35); Lead QA x1 ($35); Sr. Dev x2 ($30); Sr. QA x1 ($32)</a:t>
                      </a:r>
                    </a:p>
                  </a:txBody>
                  <a:tcPr anchor="ctr" marL="91440" marT="18288" marB="18288">
                    <a:solidFill>
                      <a:srgbClr val="F7F9FC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4315A"/>
                          </a:solidFill>
                          <a:latin typeface="Calibri"/>
                        </a:rPr>
                        <a:t>Project 5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B38"/>
                          </a:solidFill>
                          <a:latin typeface="Calibri"/>
                        </a:rPr>
                        <a:t>Sr Dev x3 ($28); Sr Dev x2 ($30); Tech Lead (Dev) x1 ($35); Sr QA x1 ($28); Lead QA x2 ($35); PO x1 ($37)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4315A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anchor="ctr" marL="91440" marT="18288" marB="18288">
                    <a:solidFill>
                      <a:srgbClr val="E7F1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4315A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 anchor="ctr" marL="91440" marT="18288" marB="18288">
                    <a:solidFill>
                      <a:srgbClr val="E7F1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4315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91440" marT="18288" marB="18288">
                    <a:solidFill>
                      <a:srgbClr val="E7F1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4315A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anchor="ctr" marL="91440" marT="18288" marB="18288">
                    <a:solidFill>
                      <a:srgbClr val="E7F1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4315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91440" marT="18288" marB="18288">
                    <a:solidFill>
                      <a:srgbClr val="E7F1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4315A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 anchor="ctr" marL="91440" marT="18288" marB="18288">
                    <a:solidFill>
                      <a:srgbClr val="E7F1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4315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91440" marT="18288" marB="18288">
                    <a:solidFill>
                      <a:srgbClr val="E7F1E8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66928" y="58521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6B7480"/>
                </a:solidFill>
                <a:latin typeface="Calibri"/>
              </a:rPr>
              <a:t>Billable = onsite + offshore.  Buffer resources cover ramp-up, leave and surge, and are not assigned to a billed feature.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43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45720"/>
          </a:xfrm>
          <a:prstGeom prst="rect">
            <a:avLst/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7160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BFD6EF"/>
                </a:solidFill>
                <a:latin typeface="Calibri"/>
              </a:rPr>
              <a:t>OPUS  ·  DELIVERY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FFFF"/>
                </a:solidFill>
                <a:latin typeface="Calibri"/>
              </a:rPr>
              <a:t>Resource distribution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78408"/>
            <a:ext cx="12191695" cy="4572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033271"/>
            <a:ext cx="11064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F6FB0"/>
                </a:solidFill>
                <a:latin typeface="Calibri"/>
              </a:rPr>
              <a:t>Key message:  </a:t>
            </a:r>
            <a:r>
              <a:rPr sz="1250" b="0" i="0">
                <a:solidFill>
                  <a:srgbClr val="14315A"/>
                </a:solidFill>
                <a:latin typeface="Calibri"/>
              </a:rPr>
              <a:t>An offshore-led model keeps cost efficient; a small onsite + buffer footprint protects coverage.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480"/>
                </a:solidFill>
                <a:latin typeface="Calibri"/>
              </a:rPr>
              <a:t>HDFC Bank  ·  Delivery Model  ·  Internal leadership briefing (confidential)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10528"/>
            <a:ext cx="777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480"/>
                </a:solidFill>
                <a:latin typeface="Calibri"/>
              </a:rPr>
              <a:t>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691640"/>
            <a:ext cx="704088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58368" y="1783080"/>
          <a:ext cx="685800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7818120" y="1691640"/>
            <a:ext cx="3822191" cy="1078992"/>
          </a:xfrm>
          <a:prstGeom prst="roundRect">
            <a:avLst>
              <a:gd name="adj" fmla="val 5000"/>
            </a:avLst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82712" y="1783080"/>
            <a:ext cx="349300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BFD6EF"/>
                </a:solidFill>
                <a:latin typeface="Calibri"/>
              </a:rPr>
              <a:t>OFFSHORE SHARE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82712" y="2020824"/>
            <a:ext cx="3493008" cy="5120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90%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2712" y="2532888"/>
            <a:ext cx="349300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BFD6EF"/>
                </a:solidFill>
                <a:latin typeface="Calibri"/>
              </a:rPr>
              <a:t>of billable resources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18120" y="2880360"/>
            <a:ext cx="3822191" cy="1078992"/>
          </a:xfrm>
          <a:prstGeom prst="roundRect">
            <a:avLst>
              <a:gd name="adj" fmla="val 5000"/>
            </a:avLst>
          </a:prstGeom>
          <a:solidFill>
            <a:srgbClr val="143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82712" y="2971800"/>
            <a:ext cx="349300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BFD6EF"/>
                </a:solidFill>
                <a:latin typeface="Calibri"/>
              </a:rPr>
              <a:t>ONSITE PRESENCE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82712" y="3209544"/>
            <a:ext cx="3493008" cy="5120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82712" y="3721608"/>
            <a:ext cx="349300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BFD6EF"/>
                </a:solidFill>
                <a:latin typeface="Calibri"/>
              </a:rPr>
              <a:t>client-site (Project 2)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18120" y="4069080"/>
            <a:ext cx="3822191" cy="1078992"/>
          </a:xfrm>
          <a:prstGeom prst="roundRect">
            <a:avLst>
              <a:gd name="adj" fmla="val 5000"/>
            </a:avLst>
          </a:prstGeom>
          <a:solidFill>
            <a:srgbClr val="C88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82712" y="4160520"/>
            <a:ext cx="349300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BFD6EF"/>
                </a:solidFill>
                <a:latin typeface="Calibri"/>
              </a:rPr>
              <a:t>BUFFER POOL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82712" y="4398264"/>
            <a:ext cx="3493008" cy="5120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82712" y="4910328"/>
            <a:ext cx="349300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BFD6EF"/>
                </a:solidFill>
                <a:latin typeface="Calibri"/>
              </a:rPr>
              <a:t>resilience on P4 &amp; P5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18120" y="5257800"/>
            <a:ext cx="3822191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818120" y="5257800"/>
            <a:ext cx="77724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74152" y="5385816"/>
            <a:ext cx="343814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315A"/>
                </a:solidFill>
                <a:latin typeface="Calibri"/>
              </a:rPr>
              <a:t>Read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74152" y="5733288"/>
            <a:ext cx="3401568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6B7480"/>
                </a:solidFill>
                <a:latin typeface="Calibri"/>
              </a:rPr>
              <a:t>Projects scale from lean 1–2 person pods to a 10-person agile team (Project 5).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43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45720"/>
          </a:xfrm>
          <a:prstGeom prst="rect">
            <a:avLst/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7160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BFD6EF"/>
                </a:solidFill>
                <a:latin typeface="Calibri"/>
              </a:rPr>
              <a:t>OPUS  ·  DELIVERY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FFFF"/>
                </a:solidFill>
                <a:latin typeface="Calibri"/>
              </a:rPr>
              <a:t>Resourcing detail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78408"/>
            <a:ext cx="12191695" cy="4572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033271"/>
            <a:ext cx="11064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F6FB0"/>
                </a:solidFill>
                <a:latin typeface="Calibri"/>
              </a:rPr>
              <a:t>Key message:  </a:t>
            </a:r>
            <a:r>
              <a:rPr sz="1250" b="0" i="0">
                <a:solidFill>
                  <a:srgbClr val="14315A"/>
                </a:solidFill>
                <a:latin typeface="Calibri"/>
              </a:rPr>
              <a:t>The two largest projects carry the development leads (P4) and the full agile team (P5).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480"/>
                </a:solidFill>
                <a:latin typeface="Calibri"/>
              </a:rPr>
              <a:t>HDFC Bank  ·  Delivery Model  ·  Internal leadership briefing (confidential)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10528"/>
            <a:ext cx="777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480"/>
                </a:solidFill>
                <a:latin typeface="Calibri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645920"/>
            <a:ext cx="53035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315A"/>
                </a:solidFill>
                <a:latin typeface="Calibri"/>
              </a:rPr>
              <a:t>Project 4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66928" y="1993392"/>
          <a:ext cx="5212080" cy="30723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17520"/>
                <a:gridCol w="1097280"/>
                <a:gridCol w="109728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anchor="ctr" marL="91440" marT="18288" marB="18288">
                    <a:solidFill>
                      <a:srgbClr val="1431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Count</a:t>
                      </a:r>
                    </a:p>
                  </a:txBody>
                  <a:tcPr anchor="ctr" marL="91440" marT="18288" marB="18288">
                    <a:solidFill>
                      <a:srgbClr val="1431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Rate/hr</a:t>
                      </a:r>
                    </a:p>
                  </a:txBody>
                  <a:tcPr anchor="ctr" marL="91440" marT="18288" marB="18288">
                    <a:solidFill>
                      <a:srgbClr val="14315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315A"/>
                          </a:solidFill>
                          <a:latin typeface="Calibri"/>
                        </a:rPr>
                        <a:t>Lead Dev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$32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315A"/>
                          </a:solidFill>
                          <a:latin typeface="Calibri"/>
                        </a:rPr>
                        <a:t>Lead Dev</a:t>
                      </a:r>
                    </a:p>
                  </a:txBody>
                  <a:tcPr anchor="ctr" marL="91440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91440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$35</a:t>
                      </a:r>
                    </a:p>
                  </a:txBody>
                  <a:tcPr anchor="ctr" marL="91440" marT="18288" marB="18288">
                    <a:solidFill>
                      <a:srgbClr val="F7F9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315A"/>
                          </a:solidFill>
                          <a:latin typeface="Calibri"/>
                        </a:rPr>
                        <a:t>Lead QA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$35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315A"/>
                          </a:solidFill>
                          <a:latin typeface="Calibri"/>
                        </a:rPr>
                        <a:t>Sr. Dev</a:t>
                      </a:r>
                    </a:p>
                  </a:txBody>
                  <a:tcPr anchor="ctr" marL="91440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91440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$30</a:t>
                      </a:r>
                    </a:p>
                  </a:txBody>
                  <a:tcPr anchor="ctr" marL="91440" marT="18288" marB="18288">
                    <a:solidFill>
                      <a:srgbClr val="F7F9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315A"/>
                          </a:solidFill>
                          <a:latin typeface="Calibri"/>
                        </a:rPr>
                        <a:t>Sr. QA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$32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315A"/>
                          </a:solidFill>
                          <a:latin typeface="Calibri"/>
                        </a:rPr>
                        <a:t>Billable total</a:t>
                      </a:r>
                    </a:p>
                  </a:txBody>
                  <a:tcPr anchor="ctr" marL="91440" marT="18288" marB="18288">
                    <a:solidFill>
                      <a:srgbClr val="E7F1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4315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L="91440" marT="18288" marB="18288">
                    <a:solidFill>
                      <a:srgbClr val="E7F1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4315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91440" marT="18288" marB="18288">
                    <a:solidFill>
                      <a:srgbClr val="E7F1E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315A"/>
                          </a:solidFill>
                          <a:latin typeface="Calibri"/>
                        </a:rPr>
                        <a:t>Buffer</a:t>
                      </a:r>
                    </a:p>
                  </a:txBody>
                  <a:tcPr anchor="ctr" marL="91440" marT="18288" marB="18288">
                    <a:solidFill>
                      <a:srgbClr val="E7F1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4315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91440" marT="18288" marB="18288">
                    <a:solidFill>
                      <a:srgbClr val="E7F1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4315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91440" marT="18288" marB="18288">
                    <a:solidFill>
                      <a:srgbClr val="E7F1E8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355080" y="1645920"/>
            <a:ext cx="53035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315A"/>
                </a:solidFill>
                <a:latin typeface="Calibri"/>
              </a:rPr>
              <a:t>Project 5</a:t>
            </a:r>
            <a:r>
              <a:rPr sz="1200" b="0" i="1">
                <a:solidFill>
                  <a:srgbClr val="6B7480"/>
                </a:solidFill>
                <a:latin typeface="Calibri"/>
              </a:rPr>
              <a:t>   — flagship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355080" y="1993392"/>
          <a:ext cx="5212080" cy="34564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17520"/>
                <a:gridCol w="1097280"/>
                <a:gridCol w="109728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anchor="ctr" marL="91440" marT="18288" marB="18288">
                    <a:solidFill>
                      <a:srgbClr val="1431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Count</a:t>
                      </a:r>
                    </a:p>
                  </a:txBody>
                  <a:tcPr anchor="ctr" marL="91440" marT="18288" marB="18288">
                    <a:solidFill>
                      <a:srgbClr val="1431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Rate/hr</a:t>
                      </a:r>
                    </a:p>
                  </a:txBody>
                  <a:tcPr anchor="ctr" marL="91440" marT="18288" marB="18288">
                    <a:solidFill>
                      <a:srgbClr val="14315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315A"/>
                          </a:solidFill>
                          <a:latin typeface="Calibri"/>
                        </a:rPr>
                        <a:t>Sr Dev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$28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315A"/>
                          </a:solidFill>
                          <a:latin typeface="Calibri"/>
                        </a:rPr>
                        <a:t>Sr Dev</a:t>
                      </a:r>
                    </a:p>
                  </a:txBody>
                  <a:tcPr anchor="ctr" marL="91440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91440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$30</a:t>
                      </a:r>
                    </a:p>
                  </a:txBody>
                  <a:tcPr anchor="ctr" marL="91440" marT="18288" marB="18288">
                    <a:solidFill>
                      <a:srgbClr val="F7F9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315A"/>
                          </a:solidFill>
                          <a:latin typeface="Calibri"/>
                        </a:rPr>
                        <a:t>Tech Lead (Dev)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$35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315A"/>
                          </a:solidFill>
                          <a:latin typeface="Calibri"/>
                        </a:rPr>
                        <a:t>Sr QA</a:t>
                      </a:r>
                    </a:p>
                  </a:txBody>
                  <a:tcPr anchor="ctr" marL="91440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91440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$28</a:t>
                      </a:r>
                    </a:p>
                  </a:txBody>
                  <a:tcPr anchor="ctr" marL="91440" marT="18288" marB="18288">
                    <a:solidFill>
                      <a:srgbClr val="F7F9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315A"/>
                          </a:solidFill>
                          <a:latin typeface="Calibri"/>
                        </a:rPr>
                        <a:t>Lead QA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$35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315A"/>
                          </a:solidFill>
                          <a:latin typeface="Calibri"/>
                        </a:rPr>
                        <a:t>PO</a:t>
                      </a:r>
                    </a:p>
                  </a:txBody>
                  <a:tcPr anchor="ctr" marL="91440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91440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$37</a:t>
                      </a:r>
                    </a:p>
                  </a:txBody>
                  <a:tcPr anchor="ctr" marL="91440" marT="18288" marB="18288">
                    <a:solidFill>
                      <a:srgbClr val="F7F9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315A"/>
                          </a:solidFill>
                          <a:latin typeface="Calibri"/>
                        </a:rPr>
                        <a:t>Billable total</a:t>
                      </a:r>
                    </a:p>
                  </a:txBody>
                  <a:tcPr anchor="ctr" marL="91440" marT="18288" marB="18288">
                    <a:solidFill>
                      <a:srgbClr val="E7F1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4315A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91440" marT="18288" marB="18288">
                    <a:solidFill>
                      <a:srgbClr val="E7F1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4315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91440" marT="18288" marB="18288">
                    <a:solidFill>
                      <a:srgbClr val="E7F1E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315A"/>
                          </a:solidFill>
                          <a:latin typeface="Calibri"/>
                        </a:rPr>
                        <a:t>Buffer</a:t>
                      </a:r>
                    </a:p>
                  </a:txBody>
                  <a:tcPr anchor="ctr" marL="91440" marT="18288" marB="18288">
                    <a:solidFill>
                      <a:srgbClr val="E7F1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4315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91440" marT="18288" marB="18288">
                    <a:solidFill>
                      <a:srgbClr val="E7F1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4315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91440" marT="18288" marB="18288">
                    <a:solidFill>
                      <a:srgbClr val="E7F1E8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566928" y="5486400"/>
            <a:ext cx="11073384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5486400"/>
            <a:ext cx="77724" cy="777240"/>
          </a:xfrm>
          <a:prstGeom prst="rect">
            <a:avLst/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614416"/>
            <a:ext cx="1068933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315A"/>
                </a:solidFill>
                <a:latin typeface="Calibri"/>
              </a:rPr>
              <a:t>Projects 1–3 are lean pods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961888"/>
            <a:ext cx="10652759" cy="2103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6B7480"/>
                </a:solidFill>
                <a:latin typeface="Calibri"/>
              </a:rPr>
              <a:t>ATM Test Engineers (×2, offshore) · an onsite ATM Solution Engg + ATM QA · a single Tech Lead — small, focused, and cost-light.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310128"/>
            <a:ext cx="12191695" cy="45720"/>
          </a:xfrm>
          <a:prstGeom prst="rect">
            <a:avLst/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20116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 i="0">
                <a:solidFill>
                  <a:srgbClr val="2F6FB0"/>
                </a:solidFill>
                <a:latin typeface="Calibr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2331720"/>
            <a:ext cx="8595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How the Client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3520440"/>
            <a:ext cx="8595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BFD6EF"/>
                </a:solidFill>
                <a:latin typeface="Calibri"/>
              </a:rPr>
              <a:t>The Scaled Agile Framework — the rhythm every team delivers 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480"/>
                </a:solidFill>
                <a:latin typeface="Calibri"/>
              </a:rPr>
              <a:t>HDFC Bank  ·  Delivery Model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43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45720"/>
          </a:xfrm>
          <a:prstGeom prst="rect">
            <a:avLst/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7160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BFD6EF"/>
                </a:solidFill>
                <a:latin typeface="Calibri"/>
              </a:rPr>
              <a:t>OPUS  ·  DELIVERY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FFFF"/>
                </a:solidFill>
                <a:latin typeface="Calibri"/>
              </a:rPr>
              <a:t>Ways of working — SAFe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78408"/>
            <a:ext cx="12191695" cy="4572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033271"/>
            <a:ext cx="11064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F6FB0"/>
                </a:solidFill>
                <a:latin typeface="Calibri"/>
              </a:rPr>
              <a:t>Key message:  </a:t>
            </a:r>
            <a:r>
              <a:rPr sz="1250" b="0" i="0">
                <a:solidFill>
                  <a:srgbClr val="14315A"/>
                </a:solidFill>
                <a:latin typeface="Calibri"/>
              </a:rPr>
              <a:t>The year runs as 4 Program Increments; every team plans together and commits scope per PI.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480"/>
                </a:solidFill>
                <a:latin typeface="Calibri"/>
              </a:rPr>
              <a:t>HDFC Bank  ·  Delivery Model  ·  Internal leadership briefing (confidential)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10528"/>
            <a:ext cx="777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480"/>
                </a:solidFill>
                <a:latin typeface="Calibri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60020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F6FB0"/>
                </a:solidFill>
                <a:latin typeface="Calibri"/>
              </a:rPr>
              <a:t>ONE YEAR  =  4 PROGRAM INCREMENTS (PI)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063240"/>
            <a:ext cx="10515600" cy="20116"/>
          </a:xfrm>
          <a:prstGeom prst="rect">
            <a:avLst/>
          </a:prstGeom>
          <a:solidFill>
            <a:srgbClr val="D6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60" y="1783080"/>
            <a:ext cx="2331720" cy="1051560"/>
          </a:xfrm>
          <a:prstGeom prst="roundRect">
            <a:avLst>
              <a:gd name="adj" fmla="val 8000"/>
            </a:avLst>
          </a:prstGeom>
          <a:solidFill>
            <a:srgbClr val="143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1892807"/>
            <a:ext cx="2148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PI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240280"/>
            <a:ext cx="2148839" cy="5486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5–7 sprints</a:t>
            </a:r>
          </a:p>
        </p:txBody>
      </p:sp>
      <p:sp>
        <p:nvSpPr>
          <p:cNvPr id="16" name="Oval 15"/>
          <p:cNvSpPr/>
          <p:nvPr/>
        </p:nvSpPr>
        <p:spPr>
          <a:xfrm>
            <a:off x="1920240" y="2962656"/>
            <a:ext cx="201168" cy="201168"/>
          </a:xfrm>
          <a:prstGeom prst="ellipse">
            <a:avLst/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24612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6B7480"/>
                </a:solidFill>
                <a:latin typeface="Calibri"/>
              </a:rPr>
              <a:t>~10–14 weeks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7552" y="2395728"/>
            <a:ext cx="237744" cy="14630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335024" y="2395728"/>
            <a:ext cx="237744" cy="14630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682496" y="2395728"/>
            <a:ext cx="237744" cy="14630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029968" y="2395728"/>
            <a:ext cx="237744" cy="14630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377440" y="2395728"/>
            <a:ext cx="237744" cy="14630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724912" y="2395728"/>
            <a:ext cx="237744" cy="14630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493008" y="1783080"/>
            <a:ext cx="2331720" cy="1051560"/>
          </a:xfrm>
          <a:prstGeom prst="roundRect">
            <a:avLst>
              <a:gd name="adj" fmla="val 8000"/>
            </a:avLst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84448" y="1892807"/>
            <a:ext cx="2148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PI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84448" y="2240280"/>
            <a:ext cx="2148839" cy="5486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5–7 sprints</a:t>
            </a:r>
          </a:p>
        </p:txBody>
      </p:sp>
      <p:sp>
        <p:nvSpPr>
          <p:cNvPr id="27" name="Oval 26"/>
          <p:cNvSpPr/>
          <p:nvPr/>
        </p:nvSpPr>
        <p:spPr>
          <a:xfrm>
            <a:off x="4590288" y="2962656"/>
            <a:ext cx="201168" cy="201168"/>
          </a:xfrm>
          <a:prstGeom prst="ellipse">
            <a:avLst/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93008" y="324612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6B7480"/>
                </a:solidFill>
                <a:latin typeface="Calibri"/>
              </a:rPr>
              <a:t>~10–14 weeks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0" y="2395728"/>
            <a:ext cx="237744" cy="146304"/>
          </a:xfrm>
          <a:prstGeom prst="roundRect">
            <a:avLst>
              <a:gd name="adj" fmla="val 30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005072" y="2395728"/>
            <a:ext cx="237744" cy="146304"/>
          </a:xfrm>
          <a:prstGeom prst="roundRect">
            <a:avLst>
              <a:gd name="adj" fmla="val 30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352544" y="2395728"/>
            <a:ext cx="237744" cy="146304"/>
          </a:xfrm>
          <a:prstGeom prst="roundRect">
            <a:avLst>
              <a:gd name="adj" fmla="val 30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700016" y="2395728"/>
            <a:ext cx="237744" cy="146304"/>
          </a:xfrm>
          <a:prstGeom prst="roundRect">
            <a:avLst>
              <a:gd name="adj" fmla="val 30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047488" y="2395728"/>
            <a:ext cx="237744" cy="146304"/>
          </a:xfrm>
          <a:prstGeom prst="roundRect">
            <a:avLst>
              <a:gd name="adj" fmla="val 30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394960" y="2395728"/>
            <a:ext cx="237744" cy="146304"/>
          </a:xfrm>
          <a:prstGeom prst="roundRect">
            <a:avLst>
              <a:gd name="adj" fmla="val 30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63056" y="1783080"/>
            <a:ext cx="2331720" cy="1051560"/>
          </a:xfrm>
          <a:prstGeom prst="roundRect">
            <a:avLst>
              <a:gd name="adj" fmla="val 8000"/>
            </a:avLst>
          </a:prstGeom>
          <a:solidFill>
            <a:srgbClr val="143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54496" y="1892807"/>
            <a:ext cx="2148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PI 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54496" y="2240280"/>
            <a:ext cx="2148839" cy="5486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5–7 sprints</a:t>
            </a:r>
          </a:p>
        </p:txBody>
      </p:sp>
      <p:sp>
        <p:nvSpPr>
          <p:cNvPr id="38" name="Oval 37"/>
          <p:cNvSpPr/>
          <p:nvPr/>
        </p:nvSpPr>
        <p:spPr>
          <a:xfrm>
            <a:off x="7260336" y="2962656"/>
            <a:ext cx="201168" cy="201168"/>
          </a:xfrm>
          <a:prstGeom prst="ellipse">
            <a:avLst/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63056" y="324612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6B7480"/>
                </a:solidFill>
                <a:latin typeface="Calibri"/>
              </a:rPr>
              <a:t>~10–14 weeks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27648" y="2395728"/>
            <a:ext cx="237744" cy="14630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675120" y="2395728"/>
            <a:ext cx="237744" cy="14630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7022592" y="2395728"/>
            <a:ext cx="237744" cy="14630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7370064" y="2395728"/>
            <a:ext cx="237744" cy="14630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7717536" y="2395728"/>
            <a:ext cx="237744" cy="14630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065008" y="2395728"/>
            <a:ext cx="237744" cy="14630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833104" y="1783080"/>
            <a:ext cx="2331720" cy="1051560"/>
          </a:xfrm>
          <a:prstGeom prst="roundRect">
            <a:avLst>
              <a:gd name="adj" fmla="val 8000"/>
            </a:avLst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924544" y="1892807"/>
            <a:ext cx="2148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PI 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24544" y="2240280"/>
            <a:ext cx="2148839" cy="5486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5–7 sprints</a:t>
            </a:r>
          </a:p>
        </p:txBody>
      </p:sp>
      <p:sp>
        <p:nvSpPr>
          <p:cNvPr id="49" name="Oval 48"/>
          <p:cNvSpPr/>
          <p:nvPr/>
        </p:nvSpPr>
        <p:spPr>
          <a:xfrm>
            <a:off x="9930384" y="2962656"/>
            <a:ext cx="201168" cy="201168"/>
          </a:xfrm>
          <a:prstGeom prst="ellipse">
            <a:avLst/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833104" y="324612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6B7480"/>
                </a:solidFill>
                <a:latin typeface="Calibri"/>
              </a:rPr>
              <a:t>~10–14 weeks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997696" y="2395728"/>
            <a:ext cx="237744" cy="146304"/>
          </a:xfrm>
          <a:prstGeom prst="roundRect">
            <a:avLst>
              <a:gd name="adj" fmla="val 30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9345168" y="2395728"/>
            <a:ext cx="237744" cy="146304"/>
          </a:xfrm>
          <a:prstGeom prst="roundRect">
            <a:avLst>
              <a:gd name="adj" fmla="val 30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9692640" y="2395728"/>
            <a:ext cx="237744" cy="146304"/>
          </a:xfrm>
          <a:prstGeom prst="roundRect">
            <a:avLst>
              <a:gd name="adj" fmla="val 30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10040112" y="2395728"/>
            <a:ext cx="237744" cy="146304"/>
          </a:xfrm>
          <a:prstGeom prst="roundRect">
            <a:avLst>
              <a:gd name="adj" fmla="val 30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10387584" y="2395728"/>
            <a:ext cx="237744" cy="146304"/>
          </a:xfrm>
          <a:prstGeom prst="roundRect">
            <a:avLst>
              <a:gd name="adj" fmla="val 30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10735056" y="2395728"/>
            <a:ext cx="237744" cy="146304"/>
          </a:xfrm>
          <a:prstGeom prst="roundRect">
            <a:avLst>
              <a:gd name="adj" fmla="val 30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66928" y="3977639"/>
            <a:ext cx="5440680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66928" y="3977639"/>
            <a:ext cx="77724" cy="1874519"/>
          </a:xfrm>
          <a:prstGeom prst="rect">
            <a:avLst/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22960" y="4105655"/>
            <a:ext cx="505663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315A"/>
                </a:solidFill>
                <a:latin typeface="Calibri"/>
              </a:rPr>
              <a:t>The cadence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2960" y="4453127"/>
            <a:ext cx="5020056" cy="13075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150" b="0" i="0">
                <a:solidFill>
                  <a:srgbClr val="6B7480"/>
                </a:solidFill>
                <a:latin typeface="Calibri"/>
              </a:rPr>
              <a:t>Each PI is 5–7 two-week sprints — roughly 10–14 weeks.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150" b="0" i="0">
                <a:solidFill>
                  <a:srgbClr val="6B7480"/>
                </a:solidFill>
                <a:latin typeface="Calibri"/>
              </a:rPr>
              <a:t>All teams plan the PI together (PI planning), surface dependencies, and commit a set of features.</a:t>
            </a:r>
          </a:p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6B7480"/>
                </a:solidFill>
                <a:latin typeface="Calibri"/>
              </a:rPr>
              <a:t>Scope is sized in story points (SP); past velocity informs each new commitment.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199632" y="3977639"/>
            <a:ext cx="5440680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199632" y="3977639"/>
            <a:ext cx="77724" cy="1874519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55664" y="4105655"/>
            <a:ext cx="505663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315A"/>
                </a:solidFill>
                <a:latin typeface="Calibri"/>
              </a:rPr>
              <a:t>Worked example (illustrative)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55664" y="4453127"/>
            <a:ext cx="5020056" cy="13075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150" b="1" i="0">
                <a:solidFill>
                  <a:srgbClr val="222B38"/>
                </a:solidFill>
                <a:latin typeface="Calibri"/>
              </a:rPr>
              <a:t>A 6-sprint PI = 12 weeks.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150" b="0" i="0">
                <a:solidFill>
                  <a:srgbClr val="6B7480"/>
                </a:solidFill>
                <a:latin typeface="Calibri"/>
              </a:rPr>
              <a:t>A team of 8 at ~8 SP/person/sprint ≈ 64 SP per sprint → ~380 SP across the PI.</a:t>
            </a:r>
          </a:p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6B7480"/>
                </a:solidFill>
                <a:latin typeface="Calibri"/>
              </a:rPr>
              <a:t>That capacity is split between committed features and production-support work.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43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45720"/>
          </a:xfrm>
          <a:prstGeom prst="rect">
            <a:avLst/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7160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BFD6EF"/>
                </a:solidFill>
                <a:latin typeface="Calibri"/>
              </a:rPr>
              <a:t>OPUS  ·  DELIVERY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FFFF"/>
                </a:solidFill>
                <a:latin typeface="Calibri"/>
              </a:rPr>
              <a:t>How a PI runs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78408"/>
            <a:ext cx="12191695" cy="4572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033271"/>
            <a:ext cx="11064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F6FB0"/>
                </a:solidFill>
                <a:latin typeface="Calibri"/>
              </a:rPr>
              <a:t>Key message:  </a:t>
            </a:r>
            <a:r>
              <a:rPr sz="1250" b="0" i="0">
                <a:solidFill>
                  <a:srgbClr val="14315A"/>
                </a:solidFill>
                <a:latin typeface="Calibri"/>
              </a:rPr>
              <a:t>Plan together, commit in story points, execute in sprints, and run support alongside.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480"/>
                </a:solidFill>
                <a:latin typeface="Calibri"/>
              </a:rPr>
              <a:t>HDFC Bank  ·  Delivery Model  ·  Internal leadership briefing (confidential)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10528"/>
            <a:ext cx="777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480"/>
                </a:solidFill>
                <a:latin typeface="Calibri"/>
              </a:rPr>
              <a:t>8</a:t>
            </a:r>
          </a:p>
        </p:txBody>
      </p:sp>
      <p:sp>
        <p:nvSpPr>
          <p:cNvPr id="11" name="Chevron 10"/>
          <p:cNvSpPr/>
          <p:nvPr/>
        </p:nvSpPr>
        <p:spPr>
          <a:xfrm>
            <a:off x="640080" y="1783080"/>
            <a:ext cx="2743200" cy="868680"/>
          </a:xfrm>
          <a:prstGeom prst="chevron">
            <a:avLst/>
          </a:prstGeom>
          <a:solidFill>
            <a:srgbClr val="143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" y="1783080"/>
            <a:ext cx="24688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1.  PI Planning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2834640"/>
            <a:ext cx="2423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6B7480"/>
                </a:solidFill>
                <a:latin typeface="Calibri"/>
              </a:rPr>
              <a:t>All teams plan the PI together; dependencies and risks are surfaced up front.</a:t>
            </a:r>
          </a:p>
        </p:txBody>
      </p:sp>
      <p:sp>
        <p:nvSpPr>
          <p:cNvPr id="14" name="Chevron 13"/>
          <p:cNvSpPr/>
          <p:nvPr/>
        </p:nvSpPr>
        <p:spPr>
          <a:xfrm>
            <a:off x="3429000" y="1783080"/>
            <a:ext cx="2743200" cy="868680"/>
          </a:xfrm>
          <a:prstGeom prst="chevron">
            <a:avLst/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93592" y="1783080"/>
            <a:ext cx="24688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2.  Commit features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2834640"/>
            <a:ext cx="2423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6B7480"/>
                </a:solidFill>
                <a:latin typeface="Calibri"/>
              </a:rPr>
              <a:t>Each team commits a set of features, sized in story points, for the PI.</a:t>
            </a:r>
          </a:p>
        </p:txBody>
      </p:sp>
      <p:sp>
        <p:nvSpPr>
          <p:cNvPr id="17" name="Chevron 16"/>
          <p:cNvSpPr/>
          <p:nvPr/>
        </p:nvSpPr>
        <p:spPr>
          <a:xfrm>
            <a:off x="6217920" y="1783080"/>
            <a:ext cx="2743200" cy="868680"/>
          </a:xfrm>
          <a:prstGeom prst="chevron">
            <a:avLst/>
          </a:prstGeom>
          <a:solidFill>
            <a:srgbClr val="143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2512" y="1783080"/>
            <a:ext cx="24688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3.  Execute sprints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834640"/>
            <a:ext cx="2423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6B7480"/>
                </a:solidFill>
                <a:latin typeface="Calibri"/>
              </a:rPr>
              <a:t>5–7 two-week sprints build the committed scope, tracked sprint by sprint.</a:t>
            </a:r>
          </a:p>
        </p:txBody>
      </p:sp>
      <p:sp>
        <p:nvSpPr>
          <p:cNvPr id="20" name="Chevron 19"/>
          <p:cNvSpPr/>
          <p:nvPr/>
        </p:nvSpPr>
        <p:spPr>
          <a:xfrm>
            <a:off x="9006839" y="1783080"/>
            <a:ext cx="2743200" cy="868680"/>
          </a:xfrm>
          <a:prstGeom prst="chevron">
            <a:avLst/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71431" y="1783080"/>
            <a:ext cx="24688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4.  Run + support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19" y="2834640"/>
            <a:ext cx="2423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6B7480"/>
                </a:solidFill>
                <a:latin typeface="Calibri"/>
              </a:rPr>
              <a:t>Teams balance committed delivery with incoming production-support issues.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4434840"/>
            <a:ext cx="11073384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6928" y="4434840"/>
            <a:ext cx="77724" cy="15544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562855"/>
            <a:ext cx="1068933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315A"/>
                </a:solidFill>
                <a:latin typeface="Calibri"/>
              </a:rPr>
              <a:t>What leadership should take away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910327"/>
            <a:ext cx="10652759" cy="987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150" b="1" i="0">
                <a:solidFill>
                  <a:srgbClr val="222B38"/>
                </a:solidFill>
                <a:latin typeface="Calibri"/>
              </a:rPr>
              <a:t>Capacity is predictable.</a:t>
            </a:r>
            <a:r>
              <a:rPr sz="1150" b="0" i="0">
                <a:solidFill>
                  <a:srgbClr val="6B7480"/>
                </a:solidFill>
                <a:latin typeface="Calibri"/>
              </a:rPr>
              <a:t>  Each team commits a story-point target at PI planning, so a PI's output is known up front and tracked every sprint.</a:t>
            </a:r>
          </a:p>
          <a:p>
            <a:pPr algn="l">
              <a:lnSpc>
                <a:spcPct val="108000"/>
              </a:lnSpc>
            </a:pPr>
            <a:r>
              <a:rPr sz="1150" b="1" i="0">
                <a:solidFill>
                  <a:srgbClr val="222B38"/>
                </a:solidFill>
                <a:latin typeface="Calibri"/>
              </a:rPr>
              <a:t>Shared services support the train.</a:t>
            </a:r>
            <a:r>
              <a:rPr sz="1150" b="0" i="0">
                <a:solidFill>
                  <a:srgbClr val="6B7480"/>
                </a:solidFill>
                <a:latin typeface="Calibri"/>
              </a:rPr>
              <a:t>  Architecture, DB, DevOps and documentation back every team across all projects.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310128"/>
            <a:ext cx="12191695" cy="45720"/>
          </a:xfrm>
          <a:prstGeom prst="rect">
            <a:avLst/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20116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 i="0">
                <a:solidFill>
                  <a:srgbClr val="2F6FB0"/>
                </a:solidFill>
                <a:latin typeface="Calibr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2331720"/>
            <a:ext cx="8595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Project 5 — Deep 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3520440"/>
            <a:ext cx="8595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BFD6EF"/>
                </a:solidFill>
                <a:latin typeface="Calibri"/>
              </a:rPr>
              <a:t>Our flagship: a three-team agile train heading to production.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480"/>
                </a:solidFill>
                <a:latin typeface="Calibri"/>
              </a:rPr>
              <a:t>HDFC Bank  ·  Delivery Model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43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45720"/>
          </a:xfrm>
          <a:prstGeom prst="rect">
            <a:avLst/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7160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BFD6EF"/>
                </a:solidFill>
                <a:latin typeface="Calibri"/>
              </a:rPr>
              <a:t>OPUS  ·  DELIVERY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FFFF"/>
                </a:solidFill>
                <a:latin typeface="Calibri"/>
              </a:rPr>
              <a:t>Project 5 — team structure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78408"/>
            <a:ext cx="12191695" cy="4572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033271"/>
            <a:ext cx="11064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F6FB0"/>
                </a:solidFill>
                <a:latin typeface="Calibri"/>
              </a:rPr>
              <a:t>Key message:  </a:t>
            </a:r>
            <a:r>
              <a:rPr sz="1250" b="0" i="0">
                <a:solidFill>
                  <a:srgbClr val="14315A"/>
                </a:solidFill>
                <a:latin typeface="Calibri"/>
              </a:rPr>
              <a:t>Opus' 10 resources work across 3 teams inside a ~25-person ecosystem, backed by shared services.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480"/>
                </a:solidFill>
                <a:latin typeface="Calibri"/>
              </a:rPr>
              <a:t>HDFC Bank  ·  Delivery Model  ·  Internal leadership briefing (confidential)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10528"/>
            <a:ext cx="777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480"/>
                </a:solidFill>
                <a:latin typeface="Calibri"/>
              </a:rPr>
              <a:t>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30168" y="1645920"/>
            <a:ext cx="4937760" cy="868680"/>
          </a:xfrm>
          <a:prstGeom prst="roundRect">
            <a:avLst>
              <a:gd name="adj" fmla="val 8000"/>
            </a:avLst>
          </a:prstGeom>
          <a:solidFill>
            <a:srgbClr val="143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21608" y="1755648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Project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1608" y="2103120"/>
            <a:ext cx="4754880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~25 people total · HDFC FTE + Opus (10 +1 buffer) + other vendors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53328" y="2514600"/>
            <a:ext cx="20116" cy="411480"/>
          </a:xfrm>
          <a:prstGeom prst="rect">
            <a:avLst/>
          </a:prstGeom>
          <a:solidFill>
            <a:srgbClr val="D6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37360" y="2926080"/>
            <a:ext cx="8686800" cy="20116"/>
          </a:xfrm>
          <a:prstGeom prst="rect">
            <a:avLst/>
          </a:prstGeom>
          <a:solidFill>
            <a:srgbClr val="D6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892807" y="2926080"/>
            <a:ext cx="20116" cy="384048"/>
          </a:xfrm>
          <a:prstGeom prst="rect">
            <a:avLst/>
          </a:prstGeom>
          <a:solidFill>
            <a:srgbClr val="D6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66928" y="3310128"/>
            <a:ext cx="2697480" cy="1371600"/>
          </a:xfrm>
          <a:prstGeom prst="roundRect">
            <a:avLst>
              <a:gd name="adj" fmla="val 8000"/>
            </a:avLst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41985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Team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767328"/>
            <a:ext cx="25146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HDFC FTE</a:t>
            </a:r>
          </a:p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+ 2 Opus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72584" y="2926080"/>
            <a:ext cx="20116" cy="384048"/>
          </a:xfrm>
          <a:prstGeom prst="rect">
            <a:avLst/>
          </a:prstGeom>
          <a:solidFill>
            <a:srgbClr val="D6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346704" y="3310128"/>
            <a:ext cx="2697480" cy="1371600"/>
          </a:xfrm>
          <a:prstGeom prst="roundRect">
            <a:avLst>
              <a:gd name="adj" fmla="val 8000"/>
            </a:avLst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38144" y="341985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Team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38144" y="3767328"/>
            <a:ext cx="25146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HDFC FTE</a:t>
            </a:r>
          </a:p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+ 6 Opus + 1 buffer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52360" y="2926080"/>
            <a:ext cx="20116" cy="384048"/>
          </a:xfrm>
          <a:prstGeom prst="rect">
            <a:avLst/>
          </a:prstGeom>
          <a:solidFill>
            <a:srgbClr val="D6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26480" y="3310128"/>
            <a:ext cx="2697480" cy="1371600"/>
          </a:xfrm>
          <a:prstGeom prst="roundRect">
            <a:avLst>
              <a:gd name="adj" fmla="val 8000"/>
            </a:avLst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341985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Team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3767328"/>
            <a:ext cx="25146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HDFC FTE</a:t>
            </a:r>
          </a:p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+ 1 Opus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232136" y="2926080"/>
            <a:ext cx="20116" cy="384048"/>
          </a:xfrm>
          <a:prstGeom prst="rect">
            <a:avLst/>
          </a:prstGeom>
          <a:solidFill>
            <a:srgbClr val="D6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906256" y="3310128"/>
            <a:ext cx="2697480" cy="1371600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97696" y="341985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Shared Services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97696" y="3767328"/>
            <a:ext cx="25146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Architect · DB Admin</a:t>
            </a:r>
          </a:p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DevOps · Tech Writer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983480"/>
            <a:ext cx="1107338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66928" y="4983480"/>
            <a:ext cx="77724" cy="1234440"/>
          </a:xfrm>
          <a:prstGeom prst="rect">
            <a:avLst/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5111496"/>
            <a:ext cx="1068933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315A"/>
                </a:solidFill>
                <a:latin typeface="Calibri"/>
              </a:rPr>
              <a:t>How to read this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5458968"/>
            <a:ext cx="10652759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150" b="1" i="0">
                <a:solidFill>
                  <a:srgbClr val="222B38"/>
                </a:solidFill>
                <a:latin typeface="Calibri"/>
              </a:rPr>
              <a:t>Opus is one part of a larger train.</a:t>
            </a:r>
            <a:r>
              <a:rPr sz="1150" b="0" i="0">
                <a:solidFill>
                  <a:srgbClr val="6B7480"/>
                </a:solidFill>
                <a:latin typeface="Calibri"/>
              </a:rPr>
              <a:t>  Of ~25 people, 10 Opus (+1 buffer) sit alongside client full-time employees and other vendors, split 2 / 6 / 1 across three teams.</a:t>
            </a:r>
          </a:p>
          <a:p>
            <a:pPr algn="l">
              <a:lnSpc>
                <a:spcPct val="108000"/>
              </a:lnSpc>
            </a:pPr>
            <a:r>
              <a:rPr sz="1150" b="1" i="0">
                <a:solidFill>
                  <a:srgbClr val="222B38"/>
                </a:solidFill>
                <a:latin typeface="Calibri"/>
              </a:rPr>
              <a:t>Shared services</a:t>
            </a:r>
            <a:r>
              <a:rPr sz="1150" b="0" i="0">
                <a:solidFill>
                  <a:srgbClr val="6B7480"/>
                </a:solidFill>
                <a:latin typeface="Calibri"/>
              </a:rPr>
              <a:t> — architecture, DB, DevOps and technical writing — support all three teams.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43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45720"/>
          </a:xfrm>
          <a:prstGeom prst="rect">
            <a:avLst/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7160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BFD6EF"/>
                </a:solidFill>
                <a:latin typeface="Calibri"/>
              </a:rPr>
              <a:t>OPUS  ·  DELIVERY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FFFF"/>
                </a:solidFill>
                <a:latin typeface="Calibri"/>
              </a:rPr>
              <a:t>Project 5 — Opus composition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78408"/>
            <a:ext cx="12191695" cy="4572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033271"/>
            <a:ext cx="11064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F6FB0"/>
                </a:solidFill>
                <a:latin typeface="Calibri"/>
              </a:rPr>
              <a:t>Key message:  </a:t>
            </a:r>
            <a:r>
              <a:rPr sz="1250" b="0" i="0">
                <a:solidFill>
                  <a:srgbClr val="14315A"/>
                </a:solidFill>
                <a:latin typeface="Calibri"/>
              </a:rPr>
              <a:t>The billable role mix, and how those resources are deployed across the three teams.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480"/>
                </a:solidFill>
                <a:latin typeface="Calibri"/>
              </a:rPr>
              <a:t>HDFC Bank  ·  Delivery Model  ·  Internal leadership briefing (confidential)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10528"/>
            <a:ext cx="777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480"/>
                </a:solidFill>
                <a:latin typeface="Calibri"/>
              </a:rPr>
              <a:t>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645920"/>
            <a:ext cx="53035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4315A"/>
                </a:solidFill>
                <a:latin typeface="Calibri"/>
              </a:rPr>
              <a:t>Billable role mix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66928" y="1993392"/>
          <a:ext cx="5303520" cy="34564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08960"/>
                <a:gridCol w="1097280"/>
                <a:gridCol w="109728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anchor="ctr" marL="91440" marT="18288" marB="18288">
                    <a:solidFill>
                      <a:srgbClr val="1431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Count</a:t>
                      </a:r>
                    </a:p>
                  </a:txBody>
                  <a:tcPr anchor="ctr" marL="91440" marT="18288" marB="18288">
                    <a:solidFill>
                      <a:srgbClr val="1431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Rate/hr</a:t>
                      </a:r>
                    </a:p>
                  </a:txBody>
                  <a:tcPr anchor="ctr" marL="91440" marT="18288" marB="18288">
                    <a:solidFill>
                      <a:srgbClr val="14315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315A"/>
                          </a:solidFill>
                          <a:latin typeface="Calibri"/>
                        </a:rPr>
                        <a:t>Sr Dev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$28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315A"/>
                          </a:solidFill>
                          <a:latin typeface="Calibri"/>
                        </a:rPr>
                        <a:t>Sr Dev</a:t>
                      </a:r>
                    </a:p>
                  </a:txBody>
                  <a:tcPr anchor="ctr" marL="91440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91440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$30</a:t>
                      </a:r>
                    </a:p>
                  </a:txBody>
                  <a:tcPr anchor="ctr" marL="91440" marT="18288" marB="18288">
                    <a:solidFill>
                      <a:srgbClr val="F7F9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315A"/>
                          </a:solidFill>
                          <a:latin typeface="Calibri"/>
                        </a:rPr>
                        <a:t>Tech Lead (Dev)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$35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315A"/>
                          </a:solidFill>
                          <a:latin typeface="Calibri"/>
                        </a:rPr>
                        <a:t>Sr QA</a:t>
                      </a:r>
                    </a:p>
                  </a:txBody>
                  <a:tcPr anchor="ctr" marL="91440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91440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$28</a:t>
                      </a:r>
                    </a:p>
                  </a:txBody>
                  <a:tcPr anchor="ctr" marL="91440" marT="18288" marB="18288">
                    <a:solidFill>
                      <a:srgbClr val="F7F9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315A"/>
                          </a:solidFill>
                          <a:latin typeface="Calibri"/>
                        </a:rPr>
                        <a:t>Lead QA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$35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315A"/>
                          </a:solidFill>
                          <a:latin typeface="Calibri"/>
                        </a:rPr>
                        <a:t>PO</a:t>
                      </a:r>
                    </a:p>
                  </a:txBody>
                  <a:tcPr anchor="ctr" marL="91440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91440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$37</a:t>
                      </a:r>
                    </a:p>
                  </a:txBody>
                  <a:tcPr anchor="ctr" marL="91440" marT="18288" marB="18288">
                    <a:solidFill>
                      <a:srgbClr val="F7F9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315A"/>
                          </a:solidFill>
                          <a:latin typeface="Calibri"/>
                        </a:rPr>
                        <a:t>Billable total</a:t>
                      </a:r>
                    </a:p>
                  </a:txBody>
                  <a:tcPr anchor="ctr" marL="91440" marT="18288" marB="18288">
                    <a:solidFill>
                      <a:srgbClr val="E7F1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4315A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91440" marT="18288" marB="18288">
                    <a:solidFill>
                      <a:srgbClr val="E7F1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4315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91440" marT="18288" marB="18288">
                    <a:solidFill>
                      <a:srgbClr val="E7F1E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315A"/>
                          </a:solidFill>
                          <a:latin typeface="Calibri"/>
                        </a:rPr>
                        <a:t>Buffer</a:t>
                      </a:r>
                    </a:p>
                  </a:txBody>
                  <a:tcPr anchor="ctr" marL="91440" marT="18288" marB="18288">
                    <a:solidFill>
                      <a:srgbClr val="E7F1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4315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91440" marT="18288" marB="18288">
                    <a:solidFill>
                      <a:srgbClr val="E7F1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4315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91440" marT="18288" marB="18288">
                    <a:solidFill>
                      <a:srgbClr val="E7F1E8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355080" y="1645920"/>
            <a:ext cx="53035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4315A"/>
                </a:solidFill>
                <a:latin typeface="Calibri"/>
              </a:rPr>
              <a:t>Deployment across teams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355080" y="1993392"/>
          <a:ext cx="5303520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256032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Team</a:t>
                      </a:r>
                    </a:p>
                  </a:txBody>
                  <a:tcPr anchor="ctr" marL="91440" marT="18288" marB="18288">
                    <a:solidFill>
                      <a:srgbClr val="1431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Opus resources</a:t>
                      </a:r>
                    </a:p>
                  </a:txBody>
                  <a:tcPr anchor="ctr" marL="91440" marT="18288" marB="18288">
                    <a:solidFill>
                      <a:srgbClr val="14315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4315A"/>
                          </a:solidFill>
                          <a:latin typeface="Calibri"/>
                        </a:rPr>
                        <a:t>Team 1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22B38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4315A"/>
                          </a:solidFill>
                          <a:latin typeface="Calibri"/>
                        </a:rPr>
                        <a:t>Team 2</a:t>
                      </a:r>
                    </a:p>
                  </a:txBody>
                  <a:tcPr anchor="ctr" marL="91440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22B38"/>
                          </a:solidFill>
                          <a:latin typeface="Calibri"/>
                        </a:rPr>
                        <a:t>6  (+1 buffer)</a:t>
                      </a:r>
                    </a:p>
                  </a:txBody>
                  <a:tcPr anchor="ctr" marL="91440" marT="18288" marB="18288">
                    <a:solidFill>
                      <a:srgbClr val="F7F9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4315A"/>
                          </a:solidFill>
                          <a:latin typeface="Calibri"/>
                        </a:rPr>
                        <a:t>Team 3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22B38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4315A"/>
                          </a:solidFill>
                          <a:latin typeface="Calibri"/>
                        </a:rPr>
                        <a:t>Across 3 teams</a:t>
                      </a:r>
                    </a:p>
                  </a:txBody>
                  <a:tcPr anchor="ctr" marL="91440" marT="18288" marB="18288">
                    <a:solidFill>
                      <a:srgbClr val="E7F1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4315A"/>
                          </a:solidFill>
                          <a:latin typeface="Calibri"/>
                        </a:rPr>
                        <a:t>10  (+1 buffer)</a:t>
                      </a:r>
                    </a:p>
                  </a:txBody>
                  <a:tcPr anchor="ctr" marL="91440" marT="18288" marB="18288">
                    <a:solidFill>
                      <a:srgbClr val="E7F1E8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6355080" y="4434840"/>
            <a:ext cx="5303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5080" y="4434840"/>
            <a:ext cx="77724" cy="1783080"/>
          </a:xfrm>
          <a:prstGeom prst="rect">
            <a:avLst/>
          </a:prstGeom>
          <a:solidFill>
            <a:srgbClr val="C88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11112" y="4562855"/>
            <a:ext cx="49194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315A"/>
                </a:solidFill>
                <a:latin typeface="Calibri"/>
              </a:rPr>
              <a:t>Note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11112" y="4910327"/>
            <a:ext cx="4882896" cy="1216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6B7480"/>
                </a:solidFill>
                <a:latin typeface="Calibri"/>
              </a:rPr>
              <a:t>The role table is the billable composition. The buffer resource absorbs leave, ramp-up and surge so committed velocity is protected when someone is unavailable.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43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45720"/>
          </a:xfrm>
          <a:prstGeom prst="rect">
            <a:avLst/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7160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BFD6EF"/>
                </a:solidFill>
                <a:latin typeface="Calibri"/>
              </a:rPr>
              <a:t>OPUS  ·  DELIVERY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FFFF"/>
                </a:solidFill>
                <a:latin typeface="Calibri"/>
              </a:rPr>
              <a:t>Project 5 — go-live roadmap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78408"/>
            <a:ext cx="12191695" cy="4572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033271"/>
            <a:ext cx="11064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F6FB0"/>
                </a:solidFill>
                <a:latin typeface="Calibri"/>
              </a:rPr>
              <a:t>Key message:  </a:t>
            </a:r>
            <a:r>
              <a:rPr sz="1250" b="0" i="0">
                <a:solidFill>
                  <a:srgbClr val="14315A"/>
                </a:solidFill>
                <a:latin typeface="Calibri"/>
              </a:rPr>
              <a:t>Three customers head to production: two in Q3 2026 and a very large one in Q1 2027.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480"/>
                </a:solidFill>
                <a:latin typeface="Calibri"/>
              </a:rPr>
              <a:t>HDFC Bank  ·  Delivery Model  ·  Internal leadership briefing (confidential)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10528"/>
            <a:ext cx="777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480"/>
                </a:solidFill>
                <a:latin typeface="Calibri"/>
              </a:rPr>
              <a:t>12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657600"/>
            <a:ext cx="10332720" cy="20116"/>
          </a:xfrm>
          <a:prstGeom prst="rect">
            <a:avLst/>
          </a:prstGeom>
          <a:solidFill>
            <a:srgbClr val="D6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39" y="1874519"/>
            <a:ext cx="2560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2E7D32"/>
                </a:solidFill>
                <a:latin typeface="Calibri"/>
              </a:rPr>
              <a:t>Q3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51560" y="2212848"/>
            <a:ext cx="2468880" cy="1097280"/>
          </a:xfrm>
          <a:prstGeom prst="rect">
            <a:avLst/>
          </a:prstGeom>
          <a:solidFill>
            <a:srgbClr val="FFFFFF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51560" y="2212848"/>
            <a:ext cx="2468880" cy="914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239572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4315A"/>
                </a:solidFill>
                <a:latin typeface="Calibri"/>
              </a:rPr>
              <a:t>Customer 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278892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B7480"/>
                </a:solidFill>
                <a:latin typeface="Calibri"/>
              </a:rPr>
              <a:t>10-bank integration</a:t>
            </a:r>
          </a:p>
        </p:txBody>
      </p:sp>
      <p:sp>
        <p:nvSpPr>
          <p:cNvPr id="17" name="Oval 16"/>
          <p:cNvSpPr/>
          <p:nvPr/>
        </p:nvSpPr>
        <p:spPr>
          <a:xfrm>
            <a:off x="2093976" y="3547872"/>
            <a:ext cx="219456" cy="21945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194560" y="3310128"/>
            <a:ext cx="20116" cy="2743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0" y="1874519"/>
            <a:ext cx="2560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2F6FB0"/>
                </a:solidFill>
                <a:latin typeface="Calibri"/>
              </a:rPr>
              <a:t>Q3 2026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43400" y="2212848"/>
            <a:ext cx="2468880" cy="1097280"/>
          </a:xfrm>
          <a:prstGeom prst="rect">
            <a:avLst/>
          </a:prstGeom>
          <a:solidFill>
            <a:srgbClr val="FFFFFF"/>
          </a:solidFill>
          <a:ln w="15875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43400" y="2212848"/>
            <a:ext cx="2468880" cy="91440"/>
          </a:xfrm>
          <a:prstGeom prst="rect">
            <a:avLst/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34840" y="239572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4315A"/>
                </a:solidFill>
                <a:latin typeface="Calibri"/>
              </a:rPr>
              <a:t>Customer 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278892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B7480"/>
                </a:solidFill>
                <a:latin typeface="Calibri"/>
              </a:rPr>
              <a:t>Production go-live</a:t>
            </a:r>
          </a:p>
        </p:txBody>
      </p:sp>
      <p:sp>
        <p:nvSpPr>
          <p:cNvPr id="24" name="Oval 23"/>
          <p:cNvSpPr/>
          <p:nvPr/>
        </p:nvSpPr>
        <p:spPr>
          <a:xfrm>
            <a:off x="5385816" y="3547872"/>
            <a:ext cx="219456" cy="219456"/>
          </a:xfrm>
          <a:prstGeom prst="ellipse">
            <a:avLst/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0" y="3310128"/>
            <a:ext cx="20116" cy="274320"/>
          </a:xfrm>
          <a:prstGeom prst="rect">
            <a:avLst/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38159" y="1874519"/>
            <a:ext cx="2560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4315A"/>
                </a:solidFill>
                <a:latin typeface="Calibri"/>
              </a:rPr>
              <a:t>Q1 2027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83879" y="2212848"/>
            <a:ext cx="2468880" cy="1097280"/>
          </a:xfrm>
          <a:prstGeom prst="rect">
            <a:avLst/>
          </a:prstGeom>
          <a:solidFill>
            <a:srgbClr val="FFFFFF"/>
          </a:solidFill>
          <a:ln w="15875">
            <a:solidFill>
              <a:srgbClr val="143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83879" y="2212848"/>
            <a:ext cx="2468880" cy="91440"/>
          </a:xfrm>
          <a:prstGeom prst="rect">
            <a:avLst/>
          </a:prstGeom>
          <a:solidFill>
            <a:srgbClr val="143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75319" y="239572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4315A"/>
                </a:solidFill>
                <a:latin typeface="Calibri"/>
              </a:rPr>
              <a:t>Customer 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19" y="278892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B7480"/>
                </a:solidFill>
                <a:latin typeface="Calibri"/>
              </a:rPr>
              <a:t>Very large customer</a:t>
            </a:r>
          </a:p>
        </p:txBody>
      </p:sp>
      <p:sp>
        <p:nvSpPr>
          <p:cNvPr id="31" name="Oval 30"/>
          <p:cNvSpPr/>
          <p:nvPr/>
        </p:nvSpPr>
        <p:spPr>
          <a:xfrm>
            <a:off x="9226296" y="3547872"/>
            <a:ext cx="219456" cy="219456"/>
          </a:xfrm>
          <a:prstGeom prst="ellipse">
            <a:avLst/>
          </a:prstGeom>
          <a:solidFill>
            <a:srgbClr val="143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326880" y="3310128"/>
            <a:ext cx="20116" cy="274320"/>
          </a:xfrm>
          <a:prstGeom prst="rect">
            <a:avLst/>
          </a:prstGeom>
          <a:solidFill>
            <a:srgbClr val="143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66928" y="4297680"/>
            <a:ext cx="11073384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6928" y="4297680"/>
            <a:ext cx="77724" cy="16916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4425696"/>
            <a:ext cx="1068933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315A"/>
                </a:solidFill>
                <a:latin typeface="Calibri"/>
              </a:rPr>
              <a:t>What this means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4773168"/>
            <a:ext cx="10652759" cy="11247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150" b="1" i="0">
                <a:solidFill>
                  <a:srgbClr val="222B38"/>
                </a:solidFill>
                <a:latin typeface="Calibri"/>
              </a:rPr>
              <a:t>Two go-lives land in Q3 2026; a very large customer follows in Q1 2027.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150" b="0" i="0">
                <a:solidFill>
                  <a:srgbClr val="6B7480"/>
                </a:solidFill>
                <a:latin typeface="Calibri"/>
              </a:rPr>
              <a:t>Customer A integrates with 10 banks — we deploy the first bank in Q3 2026, then roll out the remaining nine once Bank 1 is proven (next slide).</a:t>
            </a:r>
          </a:p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6B7480"/>
                </a:solidFill>
                <a:latin typeface="Calibri"/>
              </a:rPr>
              <a:t>The PI cadence absorbs go-live hardening and hypercare alongside committed features.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43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45720"/>
          </a:xfrm>
          <a:prstGeom prst="rect">
            <a:avLst/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7160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BFD6EF"/>
                </a:solidFill>
                <a:latin typeface="Calibri"/>
              </a:rPr>
              <a:t>OPUS  ·  DELIVERY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FFFF"/>
                </a:solidFill>
                <a:latin typeface="Calibri"/>
              </a:rPr>
              <a:t>Customer A — phased 10-bank rollout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78408"/>
            <a:ext cx="12191695" cy="4572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033271"/>
            <a:ext cx="11064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F6FB0"/>
                </a:solidFill>
                <a:latin typeface="Calibri"/>
              </a:rPr>
              <a:t>Key message:  </a:t>
            </a:r>
            <a:r>
              <a:rPr sz="1250" b="0" i="0">
                <a:solidFill>
                  <a:srgbClr val="14315A"/>
                </a:solidFill>
                <a:latin typeface="Calibri"/>
              </a:rPr>
              <a:t>We de-risk by proving the integration on one bank, then scaling the proven pattern to the rest.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480"/>
                </a:solidFill>
                <a:latin typeface="Calibri"/>
              </a:rPr>
              <a:t>HDFC Bank  ·  Delivery Model  ·  Internal leadership briefing (confidential)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10528"/>
            <a:ext cx="777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480"/>
                </a:solidFill>
                <a:latin typeface="Calibri"/>
              </a:rPr>
              <a:t>13</a:t>
            </a:r>
          </a:p>
        </p:txBody>
      </p:sp>
      <p:sp>
        <p:nvSpPr>
          <p:cNvPr id="11" name="Chevron 10"/>
          <p:cNvSpPr/>
          <p:nvPr/>
        </p:nvSpPr>
        <p:spPr>
          <a:xfrm>
            <a:off x="640080" y="1737360"/>
            <a:ext cx="3383280" cy="868680"/>
          </a:xfrm>
          <a:prstGeom prst="chevron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" y="1737360"/>
            <a:ext cx="3108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1.  Bank 1 — deploy Q3 2026</a:t>
            </a:r>
          </a:p>
        </p:txBody>
      </p:sp>
      <p:sp>
        <p:nvSpPr>
          <p:cNvPr id="13" name="Chevron 12"/>
          <p:cNvSpPr/>
          <p:nvPr/>
        </p:nvSpPr>
        <p:spPr>
          <a:xfrm>
            <a:off x="4343400" y="1737360"/>
            <a:ext cx="3383280" cy="868680"/>
          </a:xfrm>
          <a:prstGeom prst="chevron">
            <a:avLst/>
          </a:prstGeom>
          <a:solidFill>
            <a:srgbClr val="C88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7992" y="1737360"/>
            <a:ext cx="3108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2.  Validate &amp; stabilize</a:t>
            </a:r>
          </a:p>
        </p:txBody>
      </p:sp>
      <p:sp>
        <p:nvSpPr>
          <p:cNvPr id="15" name="Chevron 14"/>
          <p:cNvSpPr/>
          <p:nvPr/>
        </p:nvSpPr>
        <p:spPr>
          <a:xfrm>
            <a:off x="8046720" y="1737360"/>
            <a:ext cx="3383280" cy="868680"/>
          </a:xfrm>
          <a:prstGeom prst="chevron">
            <a:avLst/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737360"/>
            <a:ext cx="3108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3.  Banks 2–10 — phased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788920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B7480"/>
                </a:solidFill>
                <a:latin typeface="Calibri"/>
              </a:rPr>
              <a:t>First production go-live; prove the end-to-end integration.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788920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B7480"/>
                </a:solidFill>
                <a:latin typeface="Calibri"/>
              </a:rPr>
              <a:t>Hypercare, confirm the integration, capture learnings.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788920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B7480"/>
                </a:solidFill>
                <a:latin typeface="Calibri"/>
              </a:rPr>
              <a:t>Roll out the remaining nine banks, reusing the proven pattern.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6118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4315A"/>
                </a:solidFill>
                <a:latin typeface="Calibri"/>
              </a:rPr>
              <a:t>10-BANK INTEGRATION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950208"/>
            <a:ext cx="932688" cy="658368"/>
          </a:xfrm>
          <a:prstGeom prst="roundRect">
            <a:avLst>
              <a:gd name="adj" fmla="val 15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069080"/>
            <a:ext cx="93268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Bank 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741932" y="3950208"/>
            <a:ext cx="932688" cy="6583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41932" y="4069080"/>
            <a:ext cx="93268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6B7480"/>
                </a:solidFill>
                <a:latin typeface="Calibri"/>
              </a:rPr>
              <a:t>Bank 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843784" y="3950208"/>
            <a:ext cx="932688" cy="6583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43784" y="4069080"/>
            <a:ext cx="93268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6B7480"/>
                </a:solidFill>
                <a:latin typeface="Calibri"/>
              </a:rPr>
              <a:t>Bank 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945636" y="3950208"/>
            <a:ext cx="932688" cy="6583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45636" y="4069080"/>
            <a:ext cx="93268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6B7480"/>
                </a:solidFill>
                <a:latin typeface="Calibri"/>
              </a:rPr>
              <a:t>Bank 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47488" y="3950208"/>
            <a:ext cx="932688" cy="6583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47488" y="4069080"/>
            <a:ext cx="93268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6B7480"/>
                </a:solidFill>
                <a:latin typeface="Calibri"/>
              </a:rPr>
              <a:t>Bank 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49340" y="3950208"/>
            <a:ext cx="932688" cy="6583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49340" y="4069080"/>
            <a:ext cx="93268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6B7480"/>
                </a:solidFill>
                <a:latin typeface="Calibri"/>
              </a:rPr>
              <a:t>Bank 6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251192" y="3950208"/>
            <a:ext cx="932688" cy="6583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51192" y="4069080"/>
            <a:ext cx="93268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6B7480"/>
                </a:solidFill>
                <a:latin typeface="Calibri"/>
              </a:rPr>
              <a:t>Bank 7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353044" y="3950208"/>
            <a:ext cx="932688" cy="6583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53044" y="4069080"/>
            <a:ext cx="93268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6B7480"/>
                </a:solidFill>
                <a:latin typeface="Calibri"/>
              </a:rPr>
              <a:t>Bank 8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454896" y="3950208"/>
            <a:ext cx="932688" cy="6583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454896" y="4069080"/>
            <a:ext cx="93268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6B7480"/>
                </a:solidFill>
                <a:latin typeface="Calibri"/>
              </a:rPr>
              <a:t>Bank 9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556748" y="3950208"/>
            <a:ext cx="932688" cy="6583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556748" y="4069080"/>
            <a:ext cx="93268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6B7480"/>
                </a:solidFill>
                <a:latin typeface="Calibri"/>
              </a:rPr>
              <a:t>Bank 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466344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E7D32"/>
                </a:solidFill>
                <a:latin typeface="Calibri"/>
              </a:rPr>
              <a:t>■  </a:t>
            </a:r>
            <a:r>
              <a:rPr sz="1050" b="0" i="0">
                <a:solidFill>
                  <a:srgbClr val="6B7480"/>
                </a:solidFill>
                <a:latin typeface="Calibri"/>
              </a:rPr>
              <a:t>Live in Q3 2026          </a:t>
            </a:r>
            <a:r>
              <a:rPr sz="1050" b="0" i="0">
                <a:solidFill>
                  <a:srgbClr val="6B7480"/>
                </a:solidFill>
                <a:latin typeface="Calibri"/>
              </a:rPr>
              <a:t>□  </a:t>
            </a:r>
            <a:r>
              <a:rPr sz="1050" b="0" i="0">
                <a:solidFill>
                  <a:srgbClr val="6B7480"/>
                </a:solidFill>
                <a:latin typeface="Calibri"/>
              </a:rPr>
              <a:t>Phased after Bank 1 is proven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5074920"/>
            <a:ext cx="11073384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66928" y="5074920"/>
            <a:ext cx="77724" cy="10972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" y="5202936"/>
            <a:ext cx="1068933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315A"/>
                </a:solidFill>
                <a:latin typeface="Calibri"/>
              </a:rPr>
              <a:t>Why phased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" y="5550408"/>
            <a:ext cx="10652759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6B7480"/>
                </a:solidFill>
                <a:latin typeface="Calibri"/>
              </a:rPr>
              <a:t>Proving the integration end-to-end on one bank — then hardening it — lets us scale a known-good pattern to the remaining nine, protecting both the customer relationship and our delivery commitments.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43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45720"/>
          </a:xfrm>
          <a:prstGeom prst="rect">
            <a:avLst/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7160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BFD6EF"/>
                </a:solidFill>
                <a:latin typeface="Calibri"/>
              </a:rPr>
              <a:t>OPUS  ·  DELIVERY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FFFF"/>
                </a:solidFill>
                <a:latin typeface="Calibri"/>
              </a:rPr>
              <a:t>Summary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78408"/>
            <a:ext cx="12191695" cy="4572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033271"/>
            <a:ext cx="11064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F6FB0"/>
                </a:solidFill>
                <a:latin typeface="Calibri"/>
              </a:rPr>
              <a:t>Key message:  </a:t>
            </a:r>
            <a:r>
              <a:rPr sz="1250" b="0" i="0">
                <a:solidFill>
                  <a:srgbClr val="14315A"/>
                </a:solidFill>
                <a:latin typeface="Calibri"/>
              </a:rPr>
              <a:t>Five projects, one SAFe rhythm, and a flagship heading to production.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480"/>
                </a:solidFill>
                <a:latin typeface="Calibri"/>
              </a:rPr>
              <a:t>HDFC Bank  ·  Delivery Model  ·  Internal leadership briefing (confidential)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10528"/>
            <a:ext cx="777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480"/>
                </a:solidFill>
                <a:latin typeface="Calibri"/>
              </a:rPr>
              <a:t>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37360"/>
            <a:ext cx="10972800" cy="4206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00" b="1">
                <a:solidFill>
                  <a:srgbClr val="2F6FB0"/>
                </a:solidFill>
                <a:latin typeface="Calibri"/>
              </a:rPr>
              <a:t>—  </a:t>
            </a:r>
            <a:r>
              <a:rPr sz="1500" b="1">
                <a:solidFill>
                  <a:srgbClr val="222B38"/>
                </a:solidFill>
                <a:latin typeface="Calibri"/>
              </a:rPr>
              <a:t>Footprint:</a:t>
            </a:r>
            <a:r>
              <a:rPr sz="1500">
                <a:solidFill>
                  <a:srgbClr val="6B7480"/>
                </a:solidFill>
                <a:latin typeface="Calibri"/>
              </a:rPr>
              <a:t>  5 projects, 23 Opus resources (21 billable + 2 buffer), delivered offshore-led with a small onsite + buffer presence.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00" b="1">
                <a:solidFill>
                  <a:srgbClr val="2F6FB0"/>
                </a:solidFill>
                <a:latin typeface="Calibri"/>
              </a:rPr>
              <a:t>—  </a:t>
            </a:r>
            <a:r>
              <a:rPr sz="1500" b="1">
                <a:solidFill>
                  <a:srgbClr val="222B38"/>
                </a:solidFill>
                <a:latin typeface="Calibri"/>
              </a:rPr>
              <a:t>Ways of working:</a:t>
            </a:r>
            <a:r>
              <a:rPr sz="1500">
                <a:solidFill>
                  <a:srgbClr val="6B7480"/>
                </a:solidFill>
                <a:latin typeface="Calibri"/>
              </a:rPr>
              <a:t>  the client runs SAFe — 4 PIs/year, 5–7 two-week sprints per PI — and every team commits a story-point target at PI planning.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00" b="1">
                <a:solidFill>
                  <a:srgbClr val="2F6FB0"/>
                </a:solidFill>
                <a:latin typeface="Calibri"/>
              </a:rPr>
              <a:t>—  </a:t>
            </a:r>
            <a:r>
              <a:rPr sz="1500" b="1">
                <a:solidFill>
                  <a:srgbClr val="222B38"/>
                </a:solidFill>
                <a:latin typeface="Calibri"/>
              </a:rPr>
              <a:t>Flagship:</a:t>
            </a:r>
            <a:r>
              <a:rPr sz="1500">
                <a:solidFill>
                  <a:srgbClr val="6B7480"/>
                </a:solidFill>
                <a:latin typeface="Calibri"/>
              </a:rPr>
              <a:t>  Project 5 is a three-team agile train (2 / 6 / 1 Opus + buffer) inside a ~25-person ecosystem, backed by shared services.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00" b="1">
                <a:solidFill>
                  <a:srgbClr val="2F6FB0"/>
                </a:solidFill>
                <a:latin typeface="Calibri"/>
              </a:rPr>
              <a:t>—  </a:t>
            </a:r>
            <a:r>
              <a:rPr sz="1500" b="1">
                <a:solidFill>
                  <a:srgbClr val="222B38"/>
                </a:solidFill>
                <a:latin typeface="Calibri"/>
              </a:rPr>
              <a:t>Production:</a:t>
            </a:r>
            <a:r>
              <a:rPr sz="1500">
                <a:solidFill>
                  <a:srgbClr val="6B7480"/>
                </a:solidFill>
                <a:latin typeface="Calibri"/>
              </a:rPr>
              <a:t>  three customers go live — two in Q3 2026 and a very large one in Q1 2027.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00" b="1">
                <a:solidFill>
                  <a:srgbClr val="2F6FB0"/>
                </a:solidFill>
                <a:latin typeface="Calibri"/>
              </a:rPr>
              <a:t>—  </a:t>
            </a:r>
            <a:r>
              <a:rPr sz="1500" b="1">
                <a:solidFill>
                  <a:srgbClr val="222B38"/>
                </a:solidFill>
                <a:latin typeface="Calibri"/>
              </a:rPr>
              <a:t>De-risking:</a:t>
            </a:r>
            <a:r>
              <a:rPr sz="1500">
                <a:solidFill>
                  <a:srgbClr val="6B7480"/>
                </a:solidFill>
                <a:latin typeface="Calibri"/>
              </a:rPr>
              <a:t>  Customer A's 10-bank integration rolls out phased — Bank 1 first, then the remaining nine once proven.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5806440"/>
            <a:ext cx="11073384" cy="50292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879592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14315A"/>
                </a:solidFill>
                <a:latin typeface="Calibri"/>
              </a:rPr>
              <a:t>All names are placeholders and every slide is fully editable in PowerPoint.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