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TNM monthly economics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$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Revenue</c:v>
                </c:pt>
                <c:pt idx="1">
                  <c:v>Cost</c:v>
                </c:pt>
                <c:pt idx="2">
                  <c:v>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48147.0</c:v>
                </c:pt>
                <c:pt idx="1">
                  <c:v>28900.0</c:v>
                </c:pt>
                <c:pt idx="2">
                  <c:v>19247.0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Monthly economics: TNM vs Outcome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TNM (monthly)</c:v>
                </c:pt>
              </c:strCache>
            </c:strRef>
          </c:tx>
          <c:spPr>
            <a:solidFill>
              <a:srgbClr val="6E7781"/>
            </a:solidFill>
          </c:spPr>
          <c:cat>
            <c:strRef>
              <c:f>Sheet1!$A$2:$A$4</c:f>
              <c:strCache>
                <c:ptCount val="3"/>
                <c:pt idx="0">
                  <c:v>Client pays</c:v>
                </c:pt>
                <c:pt idx="1">
                  <c:v>Opus cost</c:v>
                </c:pt>
                <c:pt idx="2">
                  <c:v>Opus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48147.0</c:v>
                </c:pt>
                <c:pt idx="1">
                  <c:v>28900.0</c:v>
                </c:pt>
                <c:pt idx="2">
                  <c:v>19247.0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Outcome (monthly)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Sheet1!$A$2:$A$4</c:f>
              <c:strCache>
                <c:ptCount val="3"/>
                <c:pt idx="0">
                  <c:v>Client pays</c:v>
                </c:pt>
                <c:pt idx="1">
                  <c:v>Opus cost</c:v>
                </c:pt>
                <c:pt idx="2">
                  <c:v>Opus profit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45739.65</c:v>
                </c:pt>
                <c:pt idx="1">
                  <c:v>26272.727272727272</c:v>
                </c:pt>
                <c:pt idx="2">
                  <c:v>19466.92272727273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6400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DDEBF7"/>
                </a:solidFill>
                <a:latin typeface="Calibri"/>
              </a:rPr>
              <a:t>OPUS 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DEBF7"/>
                </a:solidFill>
                <a:latin typeface="Calibri"/>
              </a:rPr>
              <a:t>INTERNAL LEADERSHIP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Converting Apex Bank - Payments Gateway
from TNM to Outcome-Based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DEBF7"/>
                </a:solidFill>
                <a:latin typeface="Calibri"/>
              </a:rPr>
              <a:t>The margin case for a TNM -&gt; Outcome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DB8D6"/>
                </a:solidFill>
                <a:latin typeface="Calibri"/>
              </a:rPr>
              <a:t>Confidential - Opus internal only - contains cost &amp; margin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The opportunity in one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Confidential - Internal (contains cost &amp; margin)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4416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TNM MARGIN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1848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39112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$577.8k/yr billing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23444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34416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OUTCOME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61848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42.6%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039112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+2.6 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23444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4416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OPUS EXTRA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61848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+$2.6k/yr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39112"/>
            <a:ext cx="2468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plus mix upside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23444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34416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CLIENT SAVING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161848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$28.9k/yr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039112"/>
            <a:ext cx="2148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~5% less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74320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12937"/>
                </a:solidFill>
                <a:latin typeface="Calibri"/>
              </a:rPr>
              <a:t>•  The ask: convert Payments Gateway from Time-&amp;-Material to Outcome-Based delivery.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12937"/>
                </a:solidFill>
                <a:latin typeface="Calibri"/>
              </a:rPr>
              <a:t>•  Today we bill time at a frozen rate; any efficiency we create is handed back to the client as fewer billed hours - we keep none of the upside.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12937"/>
                </a:solidFill>
                <a:latin typeface="Calibri"/>
              </a:rPr>
              <a:t>•  Under Outcome the price is fixed per accepted story point - so a leaner resource mix and trimmed overhead become OUR margin, and we share a small slice with the client.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12937"/>
                </a:solidFill>
                <a:latin typeface="Calibri"/>
              </a:rPr>
              <a:t>•  Conservative case (no new tools): client pays ~5% less while our margin rises 40% -&gt; 42.6% and the resource-mix saving we unlock is now retained, not given away.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12937"/>
                </a:solidFill>
                <a:latin typeface="Calibri"/>
              </a:rPr>
              <a:t>•  Recommendation: pilot the conversion on this engagement and stand up the resource pyramid that funds the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CURRENT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Where we are today - TNM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Confidential - Internal (contains cost &amp; margin)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6766560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463040"/>
                <a:gridCol w="109728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Exp (yrs)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Rate/hr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Sr Dev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5 to 8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$28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Sr Dev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8 to 10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$30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Tech Lead (Dev)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9 to 12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$35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Sr QA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5 to 8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$28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Lead QA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9 to 12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$35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PO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12 to 14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$37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Total team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$314/hr blended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43800" y="1234440"/>
            <a:ext cx="4160520" cy="86868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344168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BILLABLE DAYS /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618488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230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719072"/>
            <a:ext cx="3886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365 - 104 wknd - 10 hol - 21 leave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40280"/>
            <a:ext cx="4160520" cy="86868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350008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MONTHLY BILLING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624328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$48,147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24912"/>
            <a:ext cx="3886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153.3 hrs/mo x $314 blended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246120"/>
            <a:ext cx="4160520" cy="86868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355848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YEARLY BILLING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30168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$577,760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43400"/>
            <a:ext cx="11247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How the numbers are built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12937"/>
                </a:solidFill>
                <a:latin typeface="Calibri"/>
              </a:rPr>
              <a:t>Billable hours/yr = 230 days x 8 hrs = 1,840 hrs.  Monthly = 153.3 hrs.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12937"/>
                </a:solidFill>
                <a:latin typeface="Calibri"/>
              </a:rPr>
              <a:t>Monthly billing = sum of (count x rate) x billable hours/month = $314/hr x 153.3 = $48,147.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12937"/>
                </a:solidFill>
                <a:latin typeface="Calibri"/>
              </a:rPr>
              <a:t>Costs (salaries, infra, licenses, travel, training) total ~$28,900/month -&gt; ~40% margin.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CURRENT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The TNM margin math (monthly)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Confidential - Internal (contains cost &amp; margin)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80160"/>
          <a:ext cx="5669280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Yearly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12937"/>
                          </a:solidFill>
                          <a:latin typeface="Calibri"/>
                        </a:rPr>
                        <a:t>Billing (revenue)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937"/>
                          </a:solidFill>
                          <a:latin typeface="Calibri"/>
                        </a:rPr>
                        <a:t>$48,147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937"/>
                          </a:solidFill>
                          <a:latin typeface="Calibri"/>
                        </a:rPr>
                        <a:t>$577,760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12937"/>
                          </a:solidFill>
                          <a:latin typeface="Calibri"/>
                        </a:rPr>
                        <a:t>Loaded cost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937"/>
                          </a:solidFill>
                          <a:latin typeface="Calibri"/>
                        </a:rPr>
                        <a:t>$28,900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937"/>
                          </a:solidFill>
                          <a:latin typeface="Calibri"/>
                        </a:rPr>
                        <a:t>$346,800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12937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937"/>
                          </a:solidFill>
                          <a:latin typeface="Calibri"/>
                        </a:rPr>
                        <a:t>$19,247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937"/>
                          </a:solidFill>
                          <a:latin typeface="Calibri"/>
                        </a:rPr>
                        <a:t>$230,964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12937"/>
                          </a:solidFill>
                          <a:latin typeface="Calibri"/>
                        </a:rPr>
                        <a:t>Margin %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E7D32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92240" y="1280160"/>
          <a:ext cx="52120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02336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12937"/>
                </a:solidFill>
                <a:latin typeface="Calibri"/>
              </a:rPr>
              <a:t>•  Margin is healthy today - but frozen.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12937"/>
                </a:solidFill>
                <a:latin typeface="Calibri"/>
              </a:rPr>
              <a:t>•  Appraisals raise cost; the bill rate stays flat -&gt; margin erodes over the SOW.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12937"/>
                </a:solidFill>
                <a:latin typeface="Calibri"/>
              </a:rPr>
              <a:t>•  Any productivity we gain reduces billed hours -&gt; we hand the saving to the client.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Why TNM caps our upside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Confidential - Internal (contains cost &amp; margin)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Revenue is frozen at the SOW rate.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E7781"/>
                </a:solidFill>
                <a:latin typeface="Calibri"/>
              </a:rPr>
              <a:t>    Cost rises every year (appraisals, attrition backfills) - margin silently compresses.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Efficiency is punished, not rewarded.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E7781"/>
                </a:solidFill>
                <a:latin typeface="Calibri"/>
              </a:rPr>
              <a:t>    Deliver the same scope with fewer / cheaper people and we simply bill less - the client keeps 100% of the saving.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No reward for delivery risk.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E7781"/>
                </a:solidFill>
                <a:latin typeface="Calibri"/>
              </a:rPr>
              <a:t>    We carry attrition, ramp-up and rework but cannot price for it.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Outcome flips all three: price is fixed to scope, a leaner mix becomes our margin, and risk is priced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PROPOSED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Outcome mechanics &amp; capacity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Confidential - Internal (contains cost &amp; margin)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212937"/>
                </a:solidFill>
                <a:latin typeface="Calibri"/>
              </a:rPr>
              <a:t>•  Capacity -&gt; velocity -&gt; price per point.</a:t>
            </a:r>
          </a:p>
          <a:p>
            <a:pPr lvl="1">
              <a:spcAft>
                <a:spcPts val="800"/>
              </a:spcAft>
            </a:pPr>
            <a:r>
              <a:rPr sz="1250" b="0">
                <a:solidFill>
                  <a:srgbClr val="6E7781"/>
                </a:solidFill>
                <a:latin typeface="Calibri"/>
              </a:rPr>
              <a:t>    Per-person SP/sprint x 10 people, less a 15% reserve (issues / meetings / grooming).</a:t>
            </a:r>
          </a:p>
          <a:p>
            <a:pPr lvl="1">
              <a:spcAft>
                <a:spcPts val="800"/>
              </a:spcAft>
            </a:pPr>
            <a:r>
              <a:rPr sz="1250" b="0">
                <a:solidFill>
                  <a:srgbClr val="6E7781"/>
                </a:solidFill>
                <a:latin typeface="Calibri"/>
              </a:rPr>
              <a:t>    x 2 sprints = deliverable SP per month.</a:t>
            </a:r>
          </a:p>
          <a:p>
            <a:pPr lvl="1">
              <a:spcAft>
                <a:spcPts val="800"/>
              </a:spcAft>
            </a:pPr>
            <a:r>
              <a:rPr sz="1250" b="0">
                <a:solidFill>
                  <a:srgbClr val="6E7781"/>
                </a:solidFill>
                <a:latin typeface="Calibri"/>
              </a:rPr>
              <a:t>    Price per SP anchored to our TNM run-rate, then a small share-back to the client.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577840" y="1371600"/>
          <a:ext cx="6126480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Case 1 (7 SP)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Case 2 (8 SP)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Gross velocity / sprint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70 SP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80 SP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Less 15% reserve -&gt; effective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59.5 SP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68 SP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Deliverable SP / month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119 SP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136 SP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Meets 120 SP min invoice?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No (119); lower min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297680"/>
            <a:ext cx="11247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Reading the two cases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12937"/>
                </a:solidFill>
                <a:latin typeface="Calibri"/>
              </a:rPr>
              <a:t>Both cases bill the same monthly total (price is anchored to the team run-rate) - velocity changes the RATE per point and whether the minimum invoice is met.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12937"/>
                </a:solidFill>
                <a:latin typeface="Calibri"/>
              </a:rPr>
              <a:t>Case 1 (7 SP) delivers 119/mo - just under the 120 minimum, so renegotiate it to ~110. Case 2 (8 SP) clears it at 136.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Outcome price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Confidential - Internal (contains cost &amp; margin)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80160"/>
          <a:ext cx="694944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472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Case 1 (7 SP)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Case 2 (8 SP)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Deliverable SP / month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119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Break-even price/SP (run-rate / SP)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$405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$354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Client share-back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-5%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-5%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Recommended price/SP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$384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$336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Monthly bill (price x SP)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$45,740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$45,740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Yearly bill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$548,876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$548,876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0" y="128016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3898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RECOMMENDED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664207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$336 / 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10512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Case 2, 5% share-back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33172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441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MONTHLY OUTCOME BILL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71576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$45,740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862072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vs $48,147 TNM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38328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34930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OUTCOME COST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76732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$26,273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913632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$28.9k / (1 + 10% eff.)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12937"/>
                </a:solidFill>
                <a:latin typeface="Calibri"/>
              </a:rPr>
              <a:t>•  Hard floor respected: price always &gt;= cost / (1 - min margin) and &gt;= TNM run-rate.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12937"/>
                </a:solidFill>
                <a:latin typeface="Calibri"/>
              </a:rPr>
              <a:t>•  The 5% we give the client is funded by a realistic 10% delivery-efficiency we keep under Outcome (next slide).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FUNDING THE GAIN - NO NEW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Where the 10% efficiency comes from: resource mix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Confidential - Internal (contains cost &amp; margin)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212937"/>
                </a:solidFill>
                <a:latin typeface="Calibri"/>
              </a:rPr>
              <a:t>We already use AI tooling under TNM - so this is NOT a new-tools gain. It comes from what Outcome unlocks: freedom over the resource mix and leaner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212937"/>
                </a:solidFill>
                <a:latin typeface="Calibri"/>
              </a:rPr>
              <a:t>•  Resource pyramid.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6E7781"/>
                </a:solidFill>
                <a:latin typeface="Calibri"/>
              </a:rPr>
              <a:t>    Under Outcome the price is fixed per point - the client no longer pays per named resource. Use freshers / juniors for routine work with senior oversight; blended cost drops while the price holds.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12937"/>
                </a:solidFill>
                <a:latin typeface="Calibri"/>
              </a:rPr>
              <a:t>•  Talent rotation.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6E7781"/>
                </a:solidFill>
                <a:latin typeface="Calibri"/>
              </a:rPr>
              <a:t>    As juniors gain skill (and cost), rotate them onto other billable projects and bring in fresh low-cost joiners - this pod's blended cost stays low.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12937"/>
                </a:solidFill>
                <a:latin typeface="Calibri"/>
              </a:rPr>
              <a:t>•  Trim the reserve 20% -&gt; 15%.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6E7781"/>
                </a:solidFill>
                <a:latin typeface="Calibri"/>
              </a:rPr>
              <a:t>    Less ceremony / meeting overhead; the same team delivers more points per month.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212937"/>
                </a:solidFill>
                <a:latin typeface="Calibri"/>
              </a:rPr>
              <a:t>•  Leaner delivery.</a:t>
            </a:r>
          </a:p>
          <a:p>
            <a:pPr lvl="1">
              <a:spcAft>
                <a:spcPts val="500"/>
              </a:spcAft>
            </a:pPr>
            <a:r>
              <a:rPr sz="1150" b="0">
                <a:solidFill>
                  <a:srgbClr val="6E7781"/>
                </a:solidFill>
                <a:latin typeface="Calibri"/>
              </a:rPr>
              <a:t>    No gold-plating, tighter Definition-of-Done -&gt; less rework (which is OUR cost under Outcome).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874519"/>
          <a:ext cx="5440680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 story point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Senior pod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Junior-heavy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12937"/>
                          </a:solidFill>
                          <a:latin typeface="Calibri"/>
                        </a:rPr>
                        <a:t>Cost / sprint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937"/>
                          </a:solidFill>
                          <a:latin typeface="Calibri"/>
                        </a:rPr>
                        <a:t>$4,000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937"/>
                          </a:solidFill>
                          <a:latin typeface="Calibri"/>
                        </a:rPr>
                        <a:t>$2,600 (-35%)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12937"/>
                          </a:solidFill>
                          <a:latin typeface="Calibri"/>
                        </a:rPr>
                        <a:t>Velocity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937"/>
                          </a:solidFill>
                          <a:latin typeface="Calibri"/>
                        </a:rPr>
                        <a:t>8 SP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937"/>
                          </a:solidFill>
                          <a:latin typeface="Calibri"/>
                        </a:rPr>
                        <a:t>6 SP (-25%)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12937"/>
                          </a:solidFill>
                          <a:latin typeface="Calibri"/>
                        </a:rPr>
                        <a:t>Cost / SP (after ~10% rework)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937"/>
                          </a:solidFill>
                          <a:latin typeface="Calibri"/>
                        </a:rPr>
                        <a:t>$500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937"/>
                          </a:solidFill>
                          <a:latin typeface="Calibri"/>
                        </a:rPr>
                        <a:t>$476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12937"/>
                          </a:solidFill>
                          <a:latin typeface="Calibri"/>
                        </a:rPr>
                        <a:t>Net efficiency / point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7D32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E7D32"/>
                          </a:solidFill>
                          <a:latin typeface="Calibri"/>
                        </a:rPr>
                        <a:t>~5-10%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63640" y="4160520"/>
            <a:ext cx="5440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212937"/>
                </a:solidFill>
                <a:latin typeface="Calibri"/>
              </a:rPr>
              <a:t>A 35% salary gap nets only ~5-10% after slower velocity + rework. Use a pyramid (juniors + senior oversight), never all-juniors, or velocity and quality fall and you miss the commitment.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532120"/>
            <a:ext cx="11201400" cy="960120"/>
          </a:xfrm>
          <a:prstGeom prst="roundRect">
            <a:avLst/>
          </a:prstGeom>
          <a:solidFill>
            <a:srgbClr val="E2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59612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7D32"/>
                </a:solidFill>
                <a:latin typeface="Calibri"/>
              </a:rPr>
              <a:t>Why it's beneficial: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12937"/>
                </a:solidFill>
                <a:latin typeface="Calibri"/>
              </a:rPr>
              <a:t>Every dollar of mix saving is margin under Outcome (under TNM a cheaper resource simply bills less)  -  builds a fresher talent pipeline trained on real work, then deployed billable elsewhere  -  improves utilisation across the account.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THE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TNM vs Outcome - the win-win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Confidential - Internal (contains cost &amp; margin)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1280160"/>
          <a:ext cx="64008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32320" y="1371600"/>
            <a:ext cx="4572000" cy="82296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48132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OPUS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755648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40% -&gt; 42.6%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810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+2.6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286000"/>
            <a:ext cx="4572000" cy="82296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239572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OPUS EXTRA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670048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+$2,639 / 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249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plus the mix upside we retain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200400"/>
            <a:ext cx="4572000" cy="82296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331012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CLIENT SAVING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584448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$28,888 / 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6393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client pays ~5% less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251960"/>
            <a:ext cx="4572000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4297680"/>
            <a:ext cx="4572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RESULT:  WIN - 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75488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12937"/>
                </a:solidFill>
                <a:latin typeface="Calibri"/>
              </a:rPr>
              <a:t>Efficiency saving $2,627/mo  &gt;  discount given $2,407/mo,</a:t>
            </a:r>
          </a:p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12937"/>
                </a:solidFill>
                <a:latin typeface="Calibri"/>
              </a:rPr>
              <a:t>so the client pays less AND Opus profit still rises. Dial the discount down (e.g. 4%) to widen Opus's share.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DE-RISKING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Risks &amp; how we control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Confidential - Internal (contains cost &amp; margin)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80160"/>
          <a:ext cx="112014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73609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Juniors slow velocity / miss commit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Pyramid with senior oversight; anchor price to conservative velocity; min-invoice floor.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Quality / rework on junior work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Acceptance gate; strong Definition-of-Done; rework is pre-acceptance (our cost, buffered).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Rotation loses knowledge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Stagger rotations; document; keep a stable senior core on the pod.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Scope creep on fixed price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All changes via priced change requests - nothing absorbed for free.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Client rejects fixed price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Sequence: managed-capacity -&gt; gain-share -&gt; outcome to build trust.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Recommendation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Confidential - Internal (contains cost &amp; margin)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Approve a pilot conversion of Payments Gateway to Outcome-Based delivery.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Commit ~136 SP/month at $336/SP (Case 2); lower the invoice minimum to ~110 if we staff to 7 SP/person.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Stand up the resource pyramid (fresher intake + senior oversight + rotation) that funds the efficiency.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Trim ceremonies to a 15% reserve and tighten Definition-of-Done to cut rework.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Lock the price-per-point and acceptance definition in the SOW addendum; review after 2 invoices.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Expected: +2.6 margin pts now, the mix saving retained as it grows, and a client paying ~5% less.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52160"/>
            <a:ext cx="5852160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5852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Target: 40% -&gt; 42.6% margin, same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